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0A72334-74A0-467D-A771-748F0F4AA02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63E9D7D-4E5F-4102-96F4-84E885B98D4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74A2D46-350F-4864-A7C7-3C8F0CD1134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9834AF5-0459-4658-895A-1723CEC55A7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B0085E7-A2DE-4A51-9834-CCDB2FEA85B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65B603D-7CA7-41CB-BCA8-6A229C90E6E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36B64B2-4105-4509-AF93-96131230E26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FB58AF9-6ACA-4CE7-ACAD-392BFCF6DE8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FFFAEA5-A5D0-4C1A-902C-7535E02890E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609A1DA-F77F-4513-86C2-B8F05F9A47B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160994B-EC74-482A-AE2F-7DED89BDD83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Algorithm Diagrams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Existential Consistency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By Haonan Lu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*Do not re-distribute*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E849A2-4CDF-435B-88D2-1D2EFC7968BD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Terminology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request: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64" name="Straight Connector 3"/>
          <p:cNvCxnSpPr/>
          <p:nvPr/>
        </p:nvCxnSpPr>
        <p:spPr>
          <a:xfrm>
            <a:off x="4010760" y="2754720"/>
            <a:ext cx="1524240" cy="360"/>
          </a:xfrm>
          <a:prstGeom prst="straightConnector1">
            <a:avLst/>
          </a:prstGeom>
          <a:ln w="25400">
            <a:solidFill>
              <a:srgbClr val="000000"/>
            </a:solidFill>
            <a:prstDash val="sysDash"/>
            <a:round/>
          </a:ln>
        </p:spPr>
      </p:cxnSp>
      <p:cxnSp>
        <p:nvCxnSpPr>
          <p:cNvPr id="65" name="Straight Arrow Connector 4"/>
          <p:cNvCxnSpPr/>
          <p:nvPr/>
        </p:nvCxnSpPr>
        <p:spPr>
          <a:xfrm flipH="1">
            <a:off x="3477240" y="2754720"/>
            <a:ext cx="533880" cy="838440"/>
          </a:xfrm>
          <a:prstGeom prst="straightConnector1">
            <a:avLst/>
          </a:prstGeom>
          <a:ln w="25400">
            <a:solidFill>
              <a:srgbClr val="ff6600"/>
            </a:solidFill>
            <a:prstDash val="dot"/>
            <a:round/>
            <a:headEnd len="med" type="arrow" w="med"/>
          </a:ln>
        </p:spPr>
      </p:cxnSp>
      <p:sp>
        <p:nvSpPr>
          <p:cNvPr id="66" name="Rounded Rectangle 5"/>
          <p:cNvSpPr/>
          <p:nvPr/>
        </p:nvSpPr>
        <p:spPr>
          <a:xfrm>
            <a:off x="2639520" y="3516840"/>
            <a:ext cx="1371240" cy="533160"/>
          </a:xfrm>
          <a:prstGeom prst="roundRect">
            <a:avLst>
              <a:gd name="adj" fmla="val 16667"/>
            </a:avLst>
          </a:prstGeom>
          <a:solidFill>
            <a:srgbClr val="f0c423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Vista Sans OT Reg"/>
                <a:ea typeface="ヒラギノ角ゴ ProN W3"/>
              </a:rPr>
              <a:t>Invoc_time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7" name="Straight Arrow Connector 6"/>
          <p:cNvCxnSpPr>
            <a:endCxn id="68" idx="0"/>
          </p:cNvCxnSpPr>
          <p:nvPr/>
        </p:nvCxnSpPr>
        <p:spPr>
          <a:xfrm>
            <a:off x="5534640" y="2754720"/>
            <a:ext cx="610200" cy="762480"/>
          </a:xfrm>
          <a:prstGeom prst="straightConnector1">
            <a:avLst/>
          </a:prstGeom>
          <a:ln w="25400">
            <a:solidFill>
              <a:srgbClr val="ff6600"/>
            </a:solidFill>
            <a:prstDash val="dot"/>
            <a:round/>
            <a:headEnd len="med" type="arrow" w="med"/>
          </a:ln>
        </p:spPr>
      </p:cxnSp>
      <p:sp>
        <p:nvSpPr>
          <p:cNvPr id="68" name="Rounded Rectangle 7"/>
          <p:cNvSpPr/>
          <p:nvPr/>
        </p:nvSpPr>
        <p:spPr>
          <a:xfrm>
            <a:off x="5458680" y="3516840"/>
            <a:ext cx="1371240" cy="533160"/>
          </a:xfrm>
          <a:prstGeom prst="roundRect">
            <a:avLst>
              <a:gd name="adj" fmla="val 16667"/>
            </a:avLst>
          </a:prstGeom>
          <a:solidFill>
            <a:srgbClr val="f0c423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Vista Sans OT Reg"/>
                <a:ea typeface="ヒラギノ角ゴ ProN W3"/>
              </a:rPr>
              <a:t>Resp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Vista Sans OT Reg"/>
                <a:ea typeface="ヒラギノ角ゴ ProN W3"/>
              </a:rPr>
              <a:t>_time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9" name="Straight Connector 8"/>
          <p:cNvCxnSpPr/>
          <p:nvPr/>
        </p:nvCxnSpPr>
        <p:spPr>
          <a:xfrm>
            <a:off x="4859640" y="3063960"/>
            <a:ext cx="360" cy="1562400"/>
          </a:xfrm>
          <a:prstGeom prst="straightConnector1">
            <a:avLst/>
          </a:prstGeom>
          <a:ln w="25400">
            <a:solidFill>
              <a:srgbClr val="ff0000"/>
            </a:solidFill>
            <a:round/>
            <a:headEnd len="med" type="arrow" w="med"/>
          </a:ln>
        </p:spPr>
      </p:cxnSp>
      <p:cxnSp>
        <p:nvCxnSpPr>
          <p:cNvPr id="70" name="Straight Connector 9"/>
          <p:cNvCxnSpPr/>
          <p:nvPr/>
        </p:nvCxnSpPr>
        <p:spPr>
          <a:xfrm>
            <a:off x="4010760" y="2564280"/>
            <a:ext cx="360" cy="38124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cxnSp>
        <p:nvCxnSpPr>
          <p:cNvPr id="71" name="Straight Connector 10"/>
          <p:cNvCxnSpPr/>
          <p:nvPr/>
        </p:nvCxnSpPr>
        <p:spPr>
          <a:xfrm>
            <a:off x="5534640" y="2564280"/>
            <a:ext cx="360" cy="38124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sp>
        <p:nvSpPr>
          <p:cNvPr id="72" name="Rounded Rectangle 11"/>
          <p:cNvSpPr/>
          <p:nvPr/>
        </p:nvSpPr>
        <p:spPr>
          <a:xfrm>
            <a:off x="4486320" y="2589120"/>
            <a:ext cx="600120" cy="32148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4f81bd"/>
            </a:solidFill>
            <a:round/>
            <a:headEnd len="med" type="arrow" w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Vista Sans OT Reg"/>
                <a:ea typeface="ヒラギノ角ゴ ProN W3"/>
              </a:rPr>
              <a:t>W(1)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ounded Rectangle 14"/>
          <p:cNvSpPr/>
          <p:nvPr/>
        </p:nvSpPr>
        <p:spPr>
          <a:xfrm>
            <a:off x="4174200" y="4626000"/>
            <a:ext cx="1510920" cy="755640"/>
          </a:xfrm>
          <a:prstGeom prst="roundRect">
            <a:avLst>
              <a:gd name="adj" fmla="val 16667"/>
            </a:avLst>
          </a:prstGeom>
          <a:solidFill>
            <a:srgbClr val="f0c423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Vista Sans OT Reg"/>
                <a:ea typeface="ヒラギノ角ゴ ProN W3"/>
              </a:rPr>
              <a:t>write value to 1 (r means read)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0B598B1-FB2D-44D0-8C87-93DF609619F4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/>
          </p:nvPr>
        </p:nvSpPr>
        <p:spPr>
          <a:xfrm>
            <a:off x="457200" y="199800"/>
            <a:ext cx="8229240" cy="613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9"/>
          <p:cNvSpPr/>
          <p:nvPr/>
        </p:nvSpPr>
        <p:spPr>
          <a:xfrm>
            <a:off x="9525960" y="34610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Rounded Rectangle 10"/>
          <p:cNvSpPr/>
          <p:nvPr/>
        </p:nvSpPr>
        <p:spPr>
          <a:xfrm>
            <a:off x="457200" y="181440"/>
            <a:ext cx="8229240" cy="6529680"/>
          </a:xfrm>
          <a:prstGeom prst="roundRect">
            <a:avLst>
              <a:gd name="adj" fmla="val 16667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4bacc6">
                <a:lumMod val="20000"/>
                <a:lumOff val="80000"/>
              </a:srgbClr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77" name="Straight Arrow Connector 12"/>
          <p:cNvCxnSpPr/>
          <p:nvPr/>
        </p:nvCxnSpPr>
        <p:spPr>
          <a:xfrm>
            <a:off x="1602720" y="3091320"/>
            <a:ext cx="5564520" cy="360"/>
          </a:xfrm>
          <a:prstGeom prst="straightConnector1">
            <a:avLst/>
          </a:prstGeom>
          <a:ln>
            <a:solidFill>
              <a:srgbClr val="000000"/>
            </a:solidFill>
            <a:round/>
            <a:tailEnd len="med" type="arrow" w="med"/>
          </a:ln>
        </p:spPr>
      </p:cxnSp>
      <p:sp>
        <p:nvSpPr>
          <p:cNvPr id="78" name="TextBox 13"/>
          <p:cNvSpPr/>
          <p:nvPr/>
        </p:nvSpPr>
        <p:spPr>
          <a:xfrm>
            <a:off x="3613680" y="3091680"/>
            <a:ext cx="16174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real time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9" name="Straight Connector 14"/>
          <p:cNvCxnSpPr/>
          <p:nvPr/>
        </p:nvCxnSpPr>
        <p:spPr>
          <a:xfrm>
            <a:off x="1865880" y="1323000"/>
            <a:ext cx="1524240" cy="360"/>
          </a:xfrm>
          <a:prstGeom prst="straightConnector1">
            <a:avLst/>
          </a:prstGeom>
          <a:ln w="25400">
            <a:solidFill>
              <a:srgbClr val="000000"/>
            </a:solidFill>
            <a:prstDash val="sysDash"/>
            <a:round/>
          </a:ln>
        </p:spPr>
      </p:cxnSp>
      <p:cxnSp>
        <p:nvCxnSpPr>
          <p:cNvPr id="80" name="Straight Connector 15"/>
          <p:cNvCxnSpPr/>
          <p:nvPr/>
        </p:nvCxnSpPr>
        <p:spPr>
          <a:xfrm>
            <a:off x="1865880" y="111384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cxnSp>
        <p:nvCxnSpPr>
          <p:cNvPr id="81" name="Straight Connector 16"/>
          <p:cNvCxnSpPr/>
          <p:nvPr/>
        </p:nvCxnSpPr>
        <p:spPr>
          <a:xfrm>
            <a:off x="3389760" y="111384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sp>
        <p:nvSpPr>
          <p:cNvPr id="82" name="Rounded Rectangle 17"/>
          <p:cNvSpPr/>
          <p:nvPr/>
        </p:nvSpPr>
        <p:spPr>
          <a:xfrm>
            <a:off x="2341440" y="1141560"/>
            <a:ext cx="600120" cy="3373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4f81bd"/>
            </a:solidFill>
            <a:round/>
            <a:headEnd len="med" type="arrow" w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Vista Sans OT Reg"/>
                <a:ea typeface="ヒラギノ角ゴ ProN W3"/>
              </a:rPr>
              <a:t>W(1)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3" name="Straight Connector 18"/>
          <p:cNvCxnSpPr/>
          <p:nvPr/>
        </p:nvCxnSpPr>
        <p:spPr>
          <a:xfrm>
            <a:off x="3769920" y="1983960"/>
            <a:ext cx="1524600" cy="360"/>
          </a:xfrm>
          <a:prstGeom prst="straightConnector1">
            <a:avLst/>
          </a:prstGeom>
          <a:ln w="25400">
            <a:solidFill>
              <a:srgbClr val="000000"/>
            </a:solidFill>
            <a:prstDash val="sysDash"/>
            <a:round/>
          </a:ln>
        </p:spPr>
      </p:cxnSp>
      <p:cxnSp>
        <p:nvCxnSpPr>
          <p:cNvPr id="84" name="Straight Connector 19"/>
          <p:cNvCxnSpPr/>
          <p:nvPr/>
        </p:nvCxnSpPr>
        <p:spPr>
          <a:xfrm>
            <a:off x="3769920" y="177480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cxnSp>
        <p:nvCxnSpPr>
          <p:cNvPr id="85" name="Straight Connector 20"/>
          <p:cNvCxnSpPr/>
          <p:nvPr/>
        </p:nvCxnSpPr>
        <p:spPr>
          <a:xfrm>
            <a:off x="5294160" y="177480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sp>
        <p:nvSpPr>
          <p:cNvPr id="86" name="Rounded Rectangle 21"/>
          <p:cNvSpPr/>
          <p:nvPr/>
        </p:nvSpPr>
        <p:spPr>
          <a:xfrm>
            <a:off x="4245480" y="1802520"/>
            <a:ext cx="600120" cy="3373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4f81bd"/>
            </a:solidFill>
            <a:round/>
            <a:headEnd len="med" type="arrow" w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Vista Sans OT Reg"/>
                <a:ea typeface="ヒラギノ角ゴ ProN W3"/>
              </a:rPr>
              <a:t>W(2)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7" name="Straight Connector 22"/>
          <p:cNvCxnSpPr/>
          <p:nvPr/>
        </p:nvCxnSpPr>
        <p:spPr>
          <a:xfrm>
            <a:off x="5418360" y="2497680"/>
            <a:ext cx="1524240" cy="360"/>
          </a:xfrm>
          <a:prstGeom prst="straightConnector1">
            <a:avLst/>
          </a:prstGeom>
          <a:ln w="25400">
            <a:solidFill>
              <a:srgbClr val="000000"/>
            </a:solidFill>
            <a:prstDash val="sysDash"/>
            <a:round/>
          </a:ln>
        </p:spPr>
      </p:cxnSp>
      <p:cxnSp>
        <p:nvCxnSpPr>
          <p:cNvPr id="88" name="Straight Connector 23"/>
          <p:cNvCxnSpPr/>
          <p:nvPr/>
        </p:nvCxnSpPr>
        <p:spPr>
          <a:xfrm>
            <a:off x="5418360" y="228888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cxnSp>
        <p:nvCxnSpPr>
          <p:cNvPr id="89" name="Straight Connector 24"/>
          <p:cNvCxnSpPr/>
          <p:nvPr/>
        </p:nvCxnSpPr>
        <p:spPr>
          <a:xfrm>
            <a:off x="6942240" y="228888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sp>
        <p:nvSpPr>
          <p:cNvPr id="90" name="Rounded Rectangle 25"/>
          <p:cNvSpPr/>
          <p:nvPr/>
        </p:nvSpPr>
        <p:spPr>
          <a:xfrm>
            <a:off x="5893560" y="2316240"/>
            <a:ext cx="600120" cy="3373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4f81bd"/>
            </a:solidFill>
            <a:round/>
            <a:headEnd len="med" type="arrow" w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Vista Sans OT Reg"/>
                <a:ea typeface="ヒラギノ角ゴ ProN W3"/>
              </a:rPr>
              <a:t>W(3)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1" name="Straight Arrow Connector 27"/>
          <p:cNvCxnSpPr/>
          <p:nvPr/>
        </p:nvCxnSpPr>
        <p:spPr>
          <a:xfrm flipV="1">
            <a:off x="1865880" y="936000"/>
            <a:ext cx="4212720" cy="387360"/>
          </a:xfrm>
          <a:prstGeom prst="straightConnector1">
            <a:avLst/>
          </a:prstGeom>
          <a:ln w="6350">
            <a:solidFill>
              <a:srgbClr val="4f81bd"/>
            </a:solidFill>
            <a:prstDash val="dot"/>
            <a:round/>
            <a:tailEnd len="med" type="arrow" w="med"/>
          </a:ln>
        </p:spPr>
      </p:cxnSp>
      <p:cxnSp>
        <p:nvCxnSpPr>
          <p:cNvPr id="92" name="Straight Arrow Connector 28"/>
          <p:cNvCxnSpPr/>
          <p:nvPr/>
        </p:nvCxnSpPr>
        <p:spPr>
          <a:xfrm flipV="1">
            <a:off x="3769920" y="1132560"/>
            <a:ext cx="2308680" cy="851760"/>
          </a:xfrm>
          <a:prstGeom prst="straightConnector1">
            <a:avLst/>
          </a:prstGeom>
          <a:ln w="6350">
            <a:solidFill>
              <a:srgbClr val="4f81bd"/>
            </a:solidFill>
            <a:prstDash val="dot"/>
            <a:round/>
            <a:tailEnd len="med" type="arrow" w="med"/>
          </a:ln>
        </p:spPr>
      </p:cxnSp>
      <p:cxnSp>
        <p:nvCxnSpPr>
          <p:cNvPr id="93" name="Straight Arrow Connector 30"/>
          <p:cNvCxnSpPr/>
          <p:nvPr/>
        </p:nvCxnSpPr>
        <p:spPr>
          <a:xfrm flipV="1">
            <a:off x="5418360" y="1323000"/>
            <a:ext cx="660240" cy="1175040"/>
          </a:xfrm>
          <a:prstGeom prst="straightConnector1">
            <a:avLst/>
          </a:prstGeom>
          <a:ln w="6350">
            <a:solidFill>
              <a:srgbClr val="4f81bd"/>
            </a:solidFill>
            <a:prstDash val="dot"/>
            <a:round/>
            <a:tailEnd len="med" type="arrow" w="med"/>
          </a:ln>
        </p:spPr>
      </p:cxnSp>
      <p:sp>
        <p:nvSpPr>
          <p:cNvPr id="94" name="TextBox 32"/>
          <p:cNvSpPr/>
          <p:nvPr/>
        </p:nvSpPr>
        <p:spPr>
          <a:xfrm>
            <a:off x="6078240" y="695520"/>
            <a:ext cx="2252520" cy="14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Requests on the same object, and ordered by invoc_time, and are processed in this order also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5" name="Straight Arrow Connector 38"/>
          <p:cNvCxnSpPr/>
          <p:nvPr/>
        </p:nvCxnSpPr>
        <p:spPr>
          <a:xfrm>
            <a:off x="635040" y="1323000"/>
            <a:ext cx="968040" cy="360"/>
          </a:xfrm>
          <a:prstGeom prst="straightConnector1">
            <a:avLst/>
          </a:prstGeom>
          <a:ln>
            <a:solidFill>
              <a:srgbClr val="9bbb59">
                <a:lumMod val="50000"/>
              </a:srgbClr>
            </a:solidFill>
            <a:round/>
            <a:tailEnd len="med" type="arrow" w="med"/>
          </a:ln>
        </p:spPr>
      </p:cxnSp>
      <p:sp>
        <p:nvSpPr>
          <p:cNvPr id="96" name="TextBox 41"/>
          <p:cNvSpPr/>
          <p:nvPr/>
        </p:nvSpPr>
        <p:spPr>
          <a:xfrm>
            <a:off x="846720" y="1015560"/>
            <a:ext cx="6498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Step 1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7" name="Straight Arrow Connector 42"/>
          <p:cNvCxnSpPr/>
          <p:nvPr/>
        </p:nvCxnSpPr>
        <p:spPr>
          <a:xfrm>
            <a:off x="635040" y="1983960"/>
            <a:ext cx="968040" cy="360"/>
          </a:xfrm>
          <a:prstGeom prst="straightConnector1">
            <a:avLst/>
          </a:prstGeom>
          <a:ln>
            <a:solidFill>
              <a:srgbClr val="9bbb59">
                <a:lumMod val="50000"/>
              </a:srgbClr>
            </a:solidFill>
            <a:round/>
            <a:tailEnd len="med" type="arrow" w="med"/>
          </a:ln>
        </p:spPr>
      </p:cxnSp>
      <p:sp>
        <p:nvSpPr>
          <p:cNvPr id="98" name="TextBox 43"/>
          <p:cNvSpPr/>
          <p:nvPr/>
        </p:nvSpPr>
        <p:spPr>
          <a:xfrm>
            <a:off x="846720" y="1676160"/>
            <a:ext cx="6498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Step 2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9" name="Straight Arrow Connector 44"/>
          <p:cNvCxnSpPr/>
          <p:nvPr/>
        </p:nvCxnSpPr>
        <p:spPr>
          <a:xfrm>
            <a:off x="635040" y="2512800"/>
            <a:ext cx="968040" cy="360"/>
          </a:xfrm>
          <a:prstGeom prst="straightConnector1">
            <a:avLst/>
          </a:prstGeom>
          <a:ln>
            <a:solidFill>
              <a:srgbClr val="9bbb59">
                <a:lumMod val="50000"/>
              </a:srgbClr>
            </a:solidFill>
            <a:round/>
            <a:tailEnd len="med" type="arrow" w="med"/>
          </a:ln>
        </p:spPr>
      </p:cxnSp>
      <p:sp>
        <p:nvSpPr>
          <p:cNvPr id="100" name="TextBox 45"/>
          <p:cNvSpPr/>
          <p:nvPr/>
        </p:nvSpPr>
        <p:spPr>
          <a:xfrm>
            <a:off x="846720" y="2205000"/>
            <a:ext cx="6498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Step 3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Oval 46"/>
          <p:cNvSpPr/>
          <p:nvPr/>
        </p:nvSpPr>
        <p:spPr>
          <a:xfrm>
            <a:off x="2019600" y="3993840"/>
            <a:ext cx="725400" cy="7606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47"/>
          <p:cNvSpPr/>
          <p:nvPr/>
        </p:nvSpPr>
        <p:spPr>
          <a:xfrm>
            <a:off x="2109240" y="4225680"/>
            <a:ext cx="5461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W(1)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Oval 48"/>
          <p:cNvSpPr/>
          <p:nvPr/>
        </p:nvSpPr>
        <p:spPr>
          <a:xfrm>
            <a:off x="3811320" y="3993840"/>
            <a:ext cx="725400" cy="7606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49"/>
          <p:cNvSpPr/>
          <p:nvPr/>
        </p:nvSpPr>
        <p:spPr>
          <a:xfrm>
            <a:off x="3900960" y="4225680"/>
            <a:ext cx="5461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W(2)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5" name="Straight Arrow Connector 53"/>
          <p:cNvCxnSpPr>
            <a:stCxn id="101" idx="6"/>
          </p:cNvCxnSpPr>
          <p:nvPr/>
        </p:nvCxnSpPr>
        <p:spPr>
          <a:xfrm>
            <a:off x="2745000" y="4374360"/>
            <a:ext cx="1066320" cy="17640"/>
          </a:xfrm>
          <a:prstGeom prst="straightConnector1">
            <a:avLst/>
          </a:prstGeom>
          <a:ln>
            <a:solidFill>
              <a:srgbClr val="4f81bd"/>
            </a:solidFill>
            <a:round/>
            <a:tailEnd len="med" type="arrow" w="med"/>
          </a:ln>
        </p:spPr>
      </p:cxnSp>
      <p:cxnSp>
        <p:nvCxnSpPr>
          <p:cNvPr id="106" name="Straight Arrow Connector 54"/>
          <p:cNvCxnSpPr>
            <a:stCxn id="103" idx="6"/>
          </p:cNvCxnSpPr>
          <p:nvPr/>
        </p:nvCxnSpPr>
        <p:spPr>
          <a:xfrm flipV="1">
            <a:off x="4536720" y="4374000"/>
            <a:ext cx="1293120" cy="720"/>
          </a:xfrm>
          <a:prstGeom prst="straightConnector1">
            <a:avLst/>
          </a:prstGeom>
          <a:ln>
            <a:solidFill>
              <a:srgbClr val="4f81bd"/>
            </a:solidFill>
            <a:round/>
            <a:tailEnd len="med" type="arrow" w="med"/>
          </a:ln>
        </p:spPr>
      </p:cxnSp>
      <p:sp>
        <p:nvSpPr>
          <p:cNvPr id="107" name="Rounded Rectangular Callout 69"/>
          <p:cNvSpPr/>
          <p:nvPr/>
        </p:nvSpPr>
        <p:spPr>
          <a:xfrm>
            <a:off x="2280960" y="5034960"/>
            <a:ext cx="3365280" cy="1301040"/>
          </a:xfrm>
          <a:prstGeom prst="wedgeRoundRectCallout">
            <a:avLst>
              <a:gd name="adj1" fmla="val -20564"/>
              <a:gd name="adj2" fmla="val -98921"/>
              <a:gd name="adj3" fmla="val 16667"/>
            </a:avLst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Reprsents w(2) is after w(1) in real time, aka w(1)’s resp_time &lt; w(2)’s invoc_time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86"/>
          <p:cNvSpPr/>
          <p:nvPr/>
        </p:nvSpPr>
        <p:spPr>
          <a:xfrm>
            <a:off x="2614680" y="273600"/>
            <a:ext cx="31737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How a Graph is Built (e.g.1)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Oval 87"/>
          <p:cNvSpPr/>
          <p:nvPr/>
        </p:nvSpPr>
        <p:spPr>
          <a:xfrm>
            <a:off x="5829840" y="3993840"/>
            <a:ext cx="725400" cy="7606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88"/>
          <p:cNvSpPr/>
          <p:nvPr/>
        </p:nvSpPr>
        <p:spPr>
          <a:xfrm>
            <a:off x="5895720" y="4253400"/>
            <a:ext cx="5461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W(3)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AD9011E-1435-4030-A3DE-474A17C89ACD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fill="hold" nodeType="with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fill="hold" nodeType="with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fill="hold" nodeType="with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7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1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2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3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4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4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5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8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9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0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1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/>
          </p:nvPr>
        </p:nvSpPr>
        <p:spPr>
          <a:xfrm>
            <a:off x="457200" y="199800"/>
            <a:ext cx="8229240" cy="613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9"/>
          <p:cNvSpPr/>
          <p:nvPr/>
        </p:nvSpPr>
        <p:spPr>
          <a:xfrm>
            <a:off x="9525960" y="34610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Rounded Rectangle 10"/>
          <p:cNvSpPr/>
          <p:nvPr/>
        </p:nvSpPr>
        <p:spPr>
          <a:xfrm>
            <a:off x="457200" y="0"/>
            <a:ext cx="8229240" cy="6529680"/>
          </a:xfrm>
          <a:prstGeom prst="roundRect">
            <a:avLst>
              <a:gd name="adj" fmla="val 16667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4bacc6">
                <a:lumMod val="20000"/>
                <a:lumOff val="80000"/>
              </a:srgbClr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14" name="Straight Arrow Connector 12"/>
          <p:cNvCxnSpPr/>
          <p:nvPr/>
        </p:nvCxnSpPr>
        <p:spPr>
          <a:xfrm>
            <a:off x="1602720" y="3091320"/>
            <a:ext cx="5564520" cy="360"/>
          </a:xfrm>
          <a:prstGeom prst="straightConnector1">
            <a:avLst/>
          </a:prstGeom>
          <a:ln>
            <a:solidFill>
              <a:srgbClr val="000000"/>
            </a:solidFill>
            <a:round/>
            <a:tailEnd len="med" type="arrow" w="med"/>
          </a:ln>
        </p:spPr>
      </p:cxnSp>
      <p:sp>
        <p:nvSpPr>
          <p:cNvPr id="115" name="TextBox 13"/>
          <p:cNvSpPr/>
          <p:nvPr/>
        </p:nvSpPr>
        <p:spPr>
          <a:xfrm>
            <a:off x="3613680" y="3091680"/>
            <a:ext cx="16174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real time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6" name="Straight Connector 14"/>
          <p:cNvCxnSpPr/>
          <p:nvPr/>
        </p:nvCxnSpPr>
        <p:spPr>
          <a:xfrm>
            <a:off x="1865880" y="1323000"/>
            <a:ext cx="1524240" cy="360"/>
          </a:xfrm>
          <a:prstGeom prst="straightConnector1">
            <a:avLst/>
          </a:prstGeom>
          <a:ln w="25400">
            <a:solidFill>
              <a:srgbClr val="000000"/>
            </a:solidFill>
            <a:prstDash val="sysDash"/>
            <a:round/>
          </a:ln>
        </p:spPr>
      </p:cxnSp>
      <p:cxnSp>
        <p:nvCxnSpPr>
          <p:cNvPr id="117" name="Straight Connector 15"/>
          <p:cNvCxnSpPr/>
          <p:nvPr/>
        </p:nvCxnSpPr>
        <p:spPr>
          <a:xfrm>
            <a:off x="1865880" y="111384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cxnSp>
        <p:nvCxnSpPr>
          <p:cNvPr id="118" name="Straight Connector 16"/>
          <p:cNvCxnSpPr/>
          <p:nvPr/>
        </p:nvCxnSpPr>
        <p:spPr>
          <a:xfrm>
            <a:off x="3389760" y="111384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sp>
        <p:nvSpPr>
          <p:cNvPr id="119" name="Rounded Rectangle 17"/>
          <p:cNvSpPr/>
          <p:nvPr/>
        </p:nvSpPr>
        <p:spPr>
          <a:xfrm>
            <a:off x="2341440" y="1141560"/>
            <a:ext cx="600120" cy="3373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4f81bd"/>
            </a:solidFill>
            <a:round/>
            <a:headEnd len="med" type="arrow" w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Vista Sans OT Reg"/>
                <a:ea typeface="ヒラギノ角ゴ ProN W3"/>
              </a:rPr>
              <a:t>W(1)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0" name="Straight Connector 18"/>
          <p:cNvCxnSpPr/>
          <p:nvPr/>
        </p:nvCxnSpPr>
        <p:spPr>
          <a:xfrm>
            <a:off x="4061520" y="1778400"/>
            <a:ext cx="1524240" cy="360"/>
          </a:xfrm>
          <a:prstGeom prst="straightConnector1">
            <a:avLst/>
          </a:prstGeom>
          <a:ln w="25400">
            <a:solidFill>
              <a:srgbClr val="000000"/>
            </a:solidFill>
            <a:prstDash val="sysDash"/>
            <a:round/>
          </a:ln>
        </p:spPr>
      </p:cxnSp>
      <p:cxnSp>
        <p:nvCxnSpPr>
          <p:cNvPr id="121" name="Straight Connector 19"/>
          <p:cNvCxnSpPr/>
          <p:nvPr/>
        </p:nvCxnSpPr>
        <p:spPr>
          <a:xfrm>
            <a:off x="4061520" y="156924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cxnSp>
        <p:nvCxnSpPr>
          <p:cNvPr id="122" name="Straight Connector 20"/>
          <p:cNvCxnSpPr/>
          <p:nvPr/>
        </p:nvCxnSpPr>
        <p:spPr>
          <a:xfrm>
            <a:off x="5585400" y="156924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sp>
        <p:nvSpPr>
          <p:cNvPr id="123" name="Rounded Rectangle 21"/>
          <p:cNvSpPr/>
          <p:nvPr/>
        </p:nvSpPr>
        <p:spPr>
          <a:xfrm>
            <a:off x="4537080" y="1596960"/>
            <a:ext cx="600120" cy="3373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4f81bd"/>
            </a:solidFill>
            <a:round/>
            <a:headEnd len="med" type="arrow" w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Vista Sans OT Reg"/>
                <a:ea typeface="ヒラギノ角ゴ ProN W3"/>
              </a:rPr>
              <a:t>W(2)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4" name="Straight Connector 22"/>
          <p:cNvCxnSpPr/>
          <p:nvPr/>
        </p:nvCxnSpPr>
        <p:spPr>
          <a:xfrm>
            <a:off x="4884120" y="2497680"/>
            <a:ext cx="1524600" cy="360"/>
          </a:xfrm>
          <a:prstGeom prst="straightConnector1">
            <a:avLst/>
          </a:prstGeom>
          <a:ln w="25400">
            <a:solidFill>
              <a:srgbClr val="000000"/>
            </a:solidFill>
            <a:prstDash val="sysDash"/>
            <a:round/>
          </a:ln>
        </p:spPr>
      </p:cxnSp>
      <p:cxnSp>
        <p:nvCxnSpPr>
          <p:cNvPr id="125" name="Straight Connector 23"/>
          <p:cNvCxnSpPr/>
          <p:nvPr/>
        </p:nvCxnSpPr>
        <p:spPr>
          <a:xfrm>
            <a:off x="4884120" y="228888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cxnSp>
        <p:nvCxnSpPr>
          <p:cNvPr id="126" name="Straight Connector 24"/>
          <p:cNvCxnSpPr/>
          <p:nvPr/>
        </p:nvCxnSpPr>
        <p:spPr>
          <a:xfrm>
            <a:off x="6408360" y="228888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sp>
        <p:nvSpPr>
          <p:cNvPr id="127" name="Rounded Rectangle 25"/>
          <p:cNvSpPr/>
          <p:nvPr/>
        </p:nvSpPr>
        <p:spPr>
          <a:xfrm>
            <a:off x="5359680" y="2316240"/>
            <a:ext cx="600120" cy="3373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4f81bd"/>
            </a:solidFill>
            <a:round/>
            <a:headEnd len="med" type="arrow" w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Vista Sans OT Reg"/>
                <a:ea typeface="ヒラギノ角ゴ ProN W3"/>
              </a:rPr>
              <a:t>W(3)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8" name="Straight Arrow Connector 38"/>
          <p:cNvCxnSpPr/>
          <p:nvPr/>
        </p:nvCxnSpPr>
        <p:spPr>
          <a:xfrm>
            <a:off x="635040" y="1323000"/>
            <a:ext cx="968040" cy="360"/>
          </a:xfrm>
          <a:prstGeom prst="straightConnector1">
            <a:avLst/>
          </a:prstGeom>
          <a:ln>
            <a:solidFill>
              <a:srgbClr val="9bbb59">
                <a:lumMod val="50000"/>
              </a:srgbClr>
            </a:solidFill>
            <a:round/>
            <a:tailEnd len="med" type="arrow" w="med"/>
          </a:ln>
        </p:spPr>
      </p:cxnSp>
      <p:sp>
        <p:nvSpPr>
          <p:cNvPr id="129" name="TextBox 41"/>
          <p:cNvSpPr/>
          <p:nvPr/>
        </p:nvSpPr>
        <p:spPr>
          <a:xfrm>
            <a:off x="846720" y="1015560"/>
            <a:ext cx="6498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Step 1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0" name="Straight Arrow Connector 42"/>
          <p:cNvCxnSpPr/>
          <p:nvPr/>
        </p:nvCxnSpPr>
        <p:spPr>
          <a:xfrm>
            <a:off x="635040" y="1922760"/>
            <a:ext cx="968040" cy="360"/>
          </a:xfrm>
          <a:prstGeom prst="straightConnector1">
            <a:avLst/>
          </a:prstGeom>
          <a:ln>
            <a:solidFill>
              <a:srgbClr val="9bbb59">
                <a:lumMod val="50000"/>
              </a:srgbClr>
            </a:solidFill>
            <a:round/>
            <a:tailEnd len="med" type="arrow" w="med"/>
          </a:ln>
        </p:spPr>
      </p:cxnSp>
      <p:sp>
        <p:nvSpPr>
          <p:cNvPr id="131" name="TextBox 43"/>
          <p:cNvSpPr/>
          <p:nvPr/>
        </p:nvSpPr>
        <p:spPr>
          <a:xfrm>
            <a:off x="846720" y="1614960"/>
            <a:ext cx="6498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Step 2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2" name="Straight Arrow Connector 44"/>
          <p:cNvCxnSpPr/>
          <p:nvPr/>
        </p:nvCxnSpPr>
        <p:spPr>
          <a:xfrm>
            <a:off x="635040" y="2512800"/>
            <a:ext cx="968040" cy="360"/>
          </a:xfrm>
          <a:prstGeom prst="straightConnector1">
            <a:avLst/>
          </a:prstGeom>
          <a:ln>
            <a:solidFill>
              <a:srgbClr val="9bbb59">
                <a:lumMod val="50000"/>
              </a:srgbClr>
            </a:solidFill>
            <a:round/>
            <a:tailEnd len="med" type="arrow" w="med"/>
          </a:ln>
        </p:spPr>
      </p:cxnSp>
      <p:sp>
        <p:nvSpPr>
          <p:cNvPr id="133" name="TextBox 45"/>
          <p:cNvSpPr/>
          <p:nvPr/>
        </p:nvSpPr>
        <p:spPr>
          <a:xfrm>
            <a:off x="846720" y="2205000"/>
            <a:ext cx="6498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Step 3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Oval 46"/>
          <p:cNvSpPr/>
          <p:nvPr/>
        </p:nvSpPr>
        <p:spPr>
          <a:xfrm>
            <a:off x="2019600" y="3993840"/>
            <a:ext cx="725400" cy="7606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47"/>
          <p:cNvSpPr/>
          <p:nvPr/>
        </p:nvSpPr>
        <p:spPr>
          <a:xfrm>
            <a:off x="2109240" y="4225680"/>
            <a:ext cx="5461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W(1)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Oval 48"/>
          <p:cNvSpPr/>
          <p:nvPr/>
        </p:nvSpPr>
        <p:spPr>
          <a:xfrm>
            <a:off x="4411800" y="3993840"/>
            <a:ext cx="725400" cy="7606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49"/>
          <p:cNvSpPr/>
          <p:nvPr/>
        </p:nvSpPr>
        <p:spPr>
          <a:xfrm>
            <a:off x="4476600" y="4235760"/>
            <a:ext cx="5461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W(2)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8" name="Straight Arrow Connector 53"/>
          <p:cNvCxnSpPr>
            <a:stCxn id="134" idx="6"/>
          </p:cNvCxnSpPr>
          <p:nvPr/>
        </p:nvCxnSpPr>
        <p:spPr>
          <a:xfrm>
            <a:off x="2745000" y="4374360"/>
            <a:ext cx="1666800" cy="17640"/>
          </a:xfrm>
          <a:prstGeom prst="straightConnector1">
            <a:avLst/>
          </a:prstGeom>
          <a:ln>
            <a:solidFill>
              <a:srgbClr val="4f81bd"/>
            </a:solidFill>
            <a:round/>
            <a:tailEnd len="med" type="arrow" w="med"/>
          </a:ln>
        </p:spPr>
      </p:cxnSp>
      <p:cxnSp>
        <p:nvCxnSpPr>
          <p:cNvPr id="139" name="Straight Arrow Connector 54"/>
          <p:cNvCxnSpPr>
            <a:endCxn id="140" idx="2"/>
          </p:cNvCxnSpPr>
          <p:nvPr/>
        </p:nvCxnSpPr>
        <p:spPr>
          <a:xfrm>
            <a:off x="2745000" y="4391640"/>
            <a:ext cx="1667160" cy="1192320"/>
          </a:xfrm>
          <a:prstGeom prst="straightConnector1">
            <a:avLst/>
          </a:prstGeom>
          <a:ln>
            <a:solidFill>
              <a:srgbClr val="4f81bd"/>
            </a:solidFill>
            <a:round/>
            <a:tailEnd len="med" type="arrow" w="med"/>
          </a:ln>
        </p:spPr>
      </p:cxnSp>
      <p:sp>
        <p:nvSpPr>
          <p:cNvPr id="141" name="TextBox 86"/>
          <p:cNvSpPr/>
          <p:nvPr/>
        </p:nvSpPr>
        <p:spPr>
          <a:xfrm>
            <a:off x="2614680" y="273600"/>
            <a:ext cx="31737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How a Graph is Built (e.g.2)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Oval 87"/>
          <p:cNvSpPr/>
          <p:nvPr/>
        </p:nvSpPr>
        <p:spPr>
          <a:xfrm>
            <a:off x="4411800" y="5203080"/>
            <a:ext cx="725400" cy="7606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88"/>
          <p:cNvSpPr/>
          <p:nvPr/>
        </p:nvSpPr>
        <p:spPr>
          <a:xfrm>
            <a:off x="4476600" y="5463000"/>
            <a:ext cx="5461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W(3)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ounded Rectangular Callout 51"/>
          <p:cNvSpPr/>
          <p:nvPr/>
        </p:nvSpPr>
        <p:spPr>
          <a:xfrm>
            <a:off x="5585760" y="3624480"/>
            <a:ext cx="3365280" cy="1578240"/>
          </a:xfrm>
          <a:prstGeom prst="wedgeRoundRectCallout">
            <a:avLst>
              <a:gd name="adj1" fmla="val -66390"/>
              <a:gd name="adj2" fmla="val 35449"/>
              <a:gd name="adj3" fmla="val 16667"/>
            </a:avLst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No edge between w2 and w3,  because they overlap; there are edges from w1 to w2 and w3, because w1 is before both w2 and w3 in real time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32AF00F-85AD-4DAE-89F5-3AA0ED246088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2" dur="indefinite" restart="never" nodeType="tmRoot">
          <p:childTnLst>
            <p:seq>
              <p:cTn id="83" dur="indefinite" nodeType="mainSeq">
                <p:childTnLst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8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9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2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3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4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5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8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9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1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15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20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5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6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9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0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33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36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41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6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7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/>
          </p:nvPr>
        </p:nvSpPr>
        <p:spPr>
          <a:xfrm>
            <a:off x="457200" y="199800"/>
            <a:ext cx="8229240" cy="613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" name="TextBox 9"/>
          <p:cNvSpPr/>
          <p:nvPr/>
        </p:nvSpPr>
        <p:spPr>
          <a:xfrm>
            <a:off x="9525960" y="34610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" name="Rounded Rectangle 10"/>
          <p:cNvSpPr/>
          <p:nvPr/>
        </p:nvSpPr>
        <p:spPr>
          <a:xfrm>
            <a:off x="457200" y="0"/>
            <a:ext cx="8229240" cy="6529680"/>
          </a:xfrm>
          <a:prstGeom prst="roundRect">
            <a:avLst>
              <a:gd name="adj" fmla="val 16667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4bacc6">
                <a:lumMod val="20000"/>
                <a:lumOff val="80000"/>
              </a:srgbClr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47" name="Straight Arrow Connector 12"/>
          <p:cNvCxnSpPr/>
          <p:nvPr/>
        </p:nvCxnSpPr>
        <p:spPr>
          <a:xfrm>
            <a:off x="1596600" y="3621960"/>
            <a:ext cx="5564880" cy="360"/>
          </a:xfrm>
          <a:prstGeom prst="straightConnector1">
            <a:avLst/>
          </a:prstGeom>
          <a:ln>
            <a:solidFill>
              <a:srgbClr val="000000"/>
            </a:solidFill>
            <a:round/>
            <a:tailEnd len="med" type="arrow" w="med"/>
          </a:ln>
        </p:spPr>
      </p:cxnSp>
      <p:sp>
        <p:nvSpPr>
          <p:cNvPr id="148" name="TextBox 13"/>
          <p:cNvSpPr/>
          <p:nvPr/>
        </p:nvSpPr>
        <p:spPr>
          <a:xfrm>
            <a:off x="3607920" y="3621960"/>
            <a:ext cx="16174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real time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9" name="Straight Connector 14"/>
          <p:cNvCxnSpPr/>
          <p:nvPr/>
        </p:nvCxnSpPr>
        <p:spPr>
          <a:xfrm>
            <a:off x="1865880" y="1323000"/>
            <a:ext cx="1524240" cy="360"/>
          </a:xfrm>
          <a:prstGeom prst="straightConnector1">
            <a:avLst/>
          </a:prstGeom>
          <a:ln w="25400">
            <a:solidFill>
              <a:srgbClr val="000000"/>
            </a:solidFill>
            <a:prstDash val="sysDash"/>
            <a:round/>
          </a:ln>
        </p:spPr>
      </p:cxnSp>
      <p:cxnSp>
        <p:nvCxnSpPr>
          <p:cNvPr id="150" name="Straight Connector 15"/>
          <p:cNvCxnSpPr/>
          <p:nvPr/>
        </p:nvCxnSpPr>
        <p:spPr>
          <a:xfrm>
            <a:off x="1865880" y="111384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cxnSp>
        <p:nvCxnSpPr>
          <p:cNvPr id="151" name="Straight Connector 16"/>
          <p:cNvCxnSpPr/>
          <p:nvPr/>
        </p:nvCxnSpPr>
        <p:spPr>
          <a:xfrm>
            <a:off x="3389760" y="111384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sp>
        <p:nvSpPr>
          <p:cNvPr id="152" name="Rounded Rectangle 17"/>
          <p:cNvSpPr/>
          <p:nvPr/>
        </p:nvSpPr>
        <p:spPr>
          <a:xfrm>
            <a:off x="2341440" y="1141560"/>
            <a:ext cx="600120" cy="3373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4f81bd"/>
            </a:solidFill>
            <a:round/>
            <a:headEnd len="med" type="arrow" w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Vista Sans OT Reg"/>
                <a:ea typeface="ヒラギノ角ゴ ProN W3"/>
              </a:rPr>
              <a:t>W(1)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3" name="Straight Connector 18"/>
          <p:cNvCxnSpPr/>
          <p:nvPr/>
        </p:nvCxnSpPr>
        <p:spPr>
          <a:xfrm>
            <a:off x="4061520" y="2443680"/>
            <a:ext cx="1524240" cy="360"/>
          </a:xfrm>
          <a:prstGeom prst="straightConnector1">
            <a:avLst/>
          </a:prstGeom>
          <a:ln w="25400">
            <a:solidFill>
              <a:srgbClr val="000000"/>
            </a:solidFill>
            <a:prstDash val="sysDash"/>
            <a:round/>
          </a:ln>
        </p:spPr>
      </p:cxnSp>
      <p:cxnSp>
        <p:nvCxnSpPr>
          <p:cNvPr id="154" name="Straight Connector 19"/>
          <p:cNvCxnSpPr/>
          <p:nvPr/>
        </p:nvCxnSpPr>
        <p:spPr>
          <a:xfrm>
            <a:off x="4061520" y="223452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cxnSp>
        <p:nvCxnSpPr>
          <p:cNvPr id="155" name="Straight Connector 20"/>
          <p:cNvCxnSpPr/>
          <p:nvPr/>
        </p:nvCxnSpPr>
        <p:spPr>
          <a:xfrm>
            <a:off x="5585400" y="223452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sp>
        <p:nvSpPr>
          <p:cNvPr id="156" name="Rounded Rectangle 21"/>
          <p:cNvSpPr/>
          <p:nvPr/>
        </p:nvSpPr>
        <p:spPr>
          <a:xfrm>
            <a:off x="4537080" y="2262240"/>
            <a:ext cx="600120" cy="3373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4f81bd"/>
            </a:solidFill>
            <a:round/>
            <a:headEnd len="med" type="arrow" w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Vista Sans OT Reg"/>
                <a:ea typeface="ヒラギノ角ゴ ProN W3"/>
              </a:rPr>
              <a:t>W(3)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7" name="Straight Connector 22"/>
          <p:cNvCxnSpPr/>
          <p:nvPr/>
        </p:nvCxnSpPr>
        <p:spPr>
          <a:xfrm>
            <a:off x="4908600" y="3147840"/>
            <a:ext cx="1524600" cy="360"/>
          </a:xfrm>
          <a:prstGeom prst="straightConnector1">
            <a:avLst/>
          </a:prstGeom>
          <a:ln w="25400">
            <a:solidFill>
              <a:srgbClr val="000000"/>
            </a:solidFill>
            <a:prstDash val="sysDash"/>
            <a:round/>
          </a:ln>
        </p:spPr>
      </p:cxnSp>
      <p:cxnSp>
        <p:nvCxnSpPr>
          <p:cNvPr id="158" name="Straight Connector 23"/>
          <p:cNvCxnSpPr/>
          <p:nvPr/>
        </p:nvCxnSpPr>
        <p:spPr>
          <a:xfrm>
            <a:off x="4908600" y="293868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cxnSp>
        <p:nvCxnSpPr>
          <p:cNvPr id="159" name="Straight Connector 24"/>
          <p:cNvCxnSpPr/>
          <p:nvPr/>
        </p:nvCxnSpPr>
        <p:spPr>
          <a:xfrm>
            <a:off x="6432840" y="293868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sp>
        <p:nvSpPr>
          <p:cNvPr id="160" name="Rounded Rectangle 25"/>
          <p:cNvSpPr/>
          <p:nvPr/>
        </p:nvSpPr>
        <p:spPr>
          <a:xfrm>
            <a:off x="5384160" y="2966400"/>
            <a:ext cx="600120" cy="3373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4f81bd"/>
            </a:solidFill>
            <a:round/>
            <a:headEnd len="med" type="arrow" w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Vista Sans OT Reg"/>
                <a:ea typeface="ヒラギノ角ゴ ProN W3"/>
              </a:rPr>
              <a:t>W(4)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Oval 46"/>
          <p:cNvSpPr/>
          <p:nvPr/>
        </p:nvSpPr>
        <p:spPr>
          <a:xfrm>
            <a:off x="2019600" y="3993840"/>
            <a:ext cx="725400" cy="7606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Box 47"/>
          <p:cNvSpPr/>
          <p:nvPr/>
        </p:nvSpPr>
        <p:spPr>
          <a:xfrm>
            <a:off x="2109240" y="4225680"/>
            <a:ext cx="5461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W(1)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Oval 48"/>
          <p:cNvSpPr/>
          <p:nvPr/>
        </p:nvSpPr>
        <p:spPr>
          <a:xfrm>
            <a:off x="5063040" y="4011480"/>
            <a:ext cx="725400" cy="7606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Box 49"/>
          <p:cNvSpPr/>
          <p:nvPr/>
        </p:nvSpPr>
        <p:spPr>
          <a:xfrm>
            <a:off x="5127840" y="4253400"/>
            <a:ext cx="5461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W(2)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5" name="Straight Arrow Connector 53"/>
          <p:cNvCxnSpPr>
            <a:stCxn id="161" idx="6"/>
            <a:endCxn id="163" idx="2"/>
          </p:cNvCxnSpPr>
          <p:nvPr/>
        </p:nvCxnSpPr>
        <p:spPr>
          <a:xfrm>
            <a:off x="2745000" y="4374360"/>
            <a:ext cx="2318400" cy="18000"/>
          </a:xfrm>
          <a:prstGeom prst="straightConnector1">
            <a:avLst/>
          </a:prstGeom>
          <a:ln>
            <a:solidFill>
              <a:srgbClr val="4f81bd"/>
            </a:solidFill>
            <a:round/>
            <a:tailEnd len="med" type="arrow" w="med"/>
          </a:ln>
        </p:spPr>
      </p:cxnSp>
      <p:cxnSp>
        <p:nvCxnSpPr>
          <p:cNvPr id="166" name="Straight Arrow Connector 54"/>
          <p:cNvCxnSpPr>
            <a:stCxn id="161" idx="6"/>
            <a:endCxn id="167" idx="2"/>
          </p:cNvCxnSpPr>
          <p:nvPr/>
        </p:nvCxnSpPr>
        <p:spPr>
          <a:xfrm>
            <a:off x="2745000" y="4374360"/>
            <a:ext cx="2328120" cy="1365840"/>
          </a:xfrm>
          <a:prstGeom prst="straightConnector1">
            <a:avLst/>
          </a:prstGeom>
          <a:ln>
            <a:solidFill>
              <a:srgbClr val="4f81bd"/>
            </a:solidFill>
            <a:round/>
            <a:tailEnd len="med" type="arrow" w="med"/>
          </a:ln>
        </p:spPr>
      </p:cxnSp>
      <p:sp>
        <p:nvSpPr>
          <p:cNvPr id="168" name="TextBox 86"/>
          <p:cNvSpPr/>
          <p:nvPr/>
        </p:nvSpPr>
        <p:spPr>
          <a:xfrm>
            <a:off x="2614680" y="273600"/>
            <a:ext cx="317376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How a Graph is Built (e.g.3, more complicated)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Oval 87"/>
          <p:cNvSpPr/>
          <p:nvPr/>
        </p:nvSpPr>
        <p:spPr>
          <a:xfrm>
            <a:off x="5072760" y="5359320"/>
            <a:ext cx="725400" cy="7606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88"/>
          <p:cNvSpPr/>
          <p:nvPr/>
        </p:nvSpPr>
        <p:spPr>
          <a:xfrm>
            <a:off x="5137560" y="5619240"/>
            <a:ext cx="5461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W(3)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0" name="Straight Connector 34"/>
          <p:cNvCxnSpPr/>
          <p:nvPr/>
        </p:nvCxnSpPr>
        <p:spPr>
          <a:xfrm>
            <a:off x="2253600" y="1856520"/>
            <a:ext cx="1524240" cy="360"/>
          </a:xfrm>
          <a:prstGeom prst="straightConnector1">
            <a:avLst/>
          </a:prstGeom>
          <a:ln w="25400">
            <a:solidFill>
              <a:srgbClr val="000000"/>
            </a:solidFill>
            <a:prstDash val="sysDash"/>
            <a:round/>
          </a:ln>
        </p:spPr>
      </p:cxnSp>
      <p:cxnSp>
        <p:nvCxnSpPr>
          <p:cNvPr id="171" name="Straight Connector 35"/>
          <p:cNvCxnSpPr/>
          <p:nvPr/>
        </p:nvCxnSpPr>
        <p:spPr>
          <a:xfrm>
            <a:off x="2253600" y="164772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cxnSp>
        <p:nvCxnSpPr>
          <p:cNvPr id="172" name="Straight Connector 36"/>
          <p:cNvCxnSpPr/>
          <p:nvPr/>
        </p:nvCxnSpPr>
        <p:spPr>
          <a:xfrm>
            <a:off x="3777480" y="164772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sp>
        <p:nvSpPr>
          <p:cNvPr id="173" name="Rounded Rectangle 37"/>
          <p:cNvSpPr/>
          <p:nvPr/>
        </p:nvSpPr>
        <p:spPr>
          <a:xfrm>
            <a:off x="2729160" y="1675080"/>
            <a:ext cx="600120" cy="3373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4f81bd"/>
            </a:solidFill>
            <a:round/>
            <a:headEnd len="med" type="arrow" w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Vista Sans OT Reg"/>
                <a:ea typeface="ヒラギノ角ゴ ProN W3"/>
              </a:rPr>
              <a:t>W(2)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Oval 39"/>
          <p:cNvSpPr/>
          <p:nvPr/>
        </p:nvSpPr>
        <p:spPr>
          <a:xfrm>
            <a:off x="2019600" y="5359320"/>
            <a:ext cx="725400" cy="7606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40"/>
          <p:cNvSpPr/>
          <p:nvPr/>
        </p:nvSpPr>
        <p:spPr>
          <a:xfrm>
            <a:off x="2084400" y="5601240"/>
            <a:ext cx="5461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W(2)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6" name="Straight Arrow Connector 50"/>
          <p:cNvCxnSpPr>
            <a:endCxn id="163" idx="2"/>
          </p:cNvCxnSpPr>
          <p:nvPr/>
        </p:nvCxnSpPr>
        <p:spPr>
          <a:xfrm flipV="1">
            <a:off x="2745000" y="4392000"/>
            <a:ext cx="2318400" cy="1348200"/>
          </a:xfrm>
          <a:prstGeom prst="straightConnector1">
            <a:avLst/>
          </a:prstGeom>
          <a:ln>
            <a:solidFill>
              <a:srgbClr val="4f81bd"/>
            </a:solidFill>
            <a:round/>
            <a:tailEnd len="med" type="arrow" w="med"/>
          </a:ln>
        </p:spPr>
      </p:cxnSp>
      <p:cxnSp>
        <p:nvCxnSpPr>
          <p:cNvPr id="177" name="Straight Arrow Connector 52"/>
          <p:cNvCxnSpPr/>
          <p:nvPr/>
        </p:nvCxnSpPr>
        <p:spPr>
          <a:xfrm>
            <a:off x="2745000" y="5739840"/>
            <a:ext cx="2318040" cy="360"/>
          </a:xfrm>
          <a:prstGeom prst="straightConnector1">
            <a:avLst/>
          </a:prstGeom>
          <a:ln>
            <a:solidFill>
              <a:srgbClr val="4f81bd"/>
            </a:solidFill>
            <a:round/>
            <a:tailEnd len="med" type="arrow" w="med"/>
          </a:ln>
        </p:spPr>
      </p:cxn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BF7E9B9-6FAA-4B6A-B828-D0A124251FD6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0" name="Rounded Rectangle 3"/>
          <p:cNvSpPr/>
          <p:nvPr/>
        </p:nvSpPr>
        <p:spPr>
          <a:xfrm>
            <a:off x="457200" y="181440"/>
            <a:ext cx="8229240" cy="6529680"/>
          </a:xfrm>
          <a:prstGeom prst="roundRect">
            <a:avLst>
              <a:gd name="adj" fmla="val 16667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4bacc6">
                <a:lumMod val="20000"/>
                <a:lumOff val="80000"/>
              </a:srgbClr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Oval 4"/>
          <p:cNvSpPr/>
          <p:nvPr/>
        </p:nvSpPr>
        <p:spPr>
          <a:xfrm>
            <a:off x="2382480" y="2905200"/>
            <a:ext cx="725400" cy="7606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TextBox 5"/>
          <p:cNvSpPr/>
          <p:nvPr/>
        </p:nvSpPr>
        <p:spPr>
          <a:xfrm>
            <a:off x="2472120" y="3137040"/>
            <a:ext cx="5461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W(1)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Oval 6"/>
          <p:cNvSpPr/>
          <p:nvPr/>
        </p:nvSpPr>
        <p:spPr>
          <a:xfrm>
            <a:off x="4174200" y="2905200"/>
            <a:ext cx="725400" cy="7606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7"/>
          <p:cNvSpPr/>
          <p:nvPr/>
        </p:nvSpPr>
        <p:spPr>
          <a:xfrm>
            <a:off x="4263840" y="3137040"/>
            <a:ext cx="5461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W(2)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5" name="Straight Arrow Connector 8"/>
          <p:cNvCxnSpPr>
            <a:stCxn id="181" idx="6"/>
          </p:cNvCxnSpPr>
          <p:nvPr/>
        </p:nvCxnSpPr>
        <p:spPr>
          <a:xfrm>
            <a:off x="3107880" y="3285720"/>
            <a:ext cx="1066320" cy="18000"/>
          </a:xfrm>
          <a:prstGeom prst="straightConnector1">
            <a:avLst/>
          </a:prstGeom>
          <a:ln>
            <a:solidFill>
              <a:srgbClr val="4f81bd"/>
            </a:solidFill>
            <a:round/>
            <a:tailEnd len="med" type="arrow" w="med"/>
          </a:ln>
        </p:spPr>
      </p:cxnSp>
      <p:cxnSp>
        <p:nvCxnSpPr>
          <p:cNvPr id="186" name="Straight Arrow Connector 9"/>
          <p:cNvCxnSpPr>
            <a:stCxn id="183" idx="6"/>
          </p:cNvCxnSpPr>
          <p:nvPr/>
        </p:nvCxnSpPr>
        <p:spPr>
          <a:xfrm flipV="1">
            <a:off x="4899600" y="3285360"/>
            <a:ext cx="1293120" cy="720"/>
          </a:xfrm>
          <a:prstGeom prst="straightConnector1">
            <a:avLst/>
          </a:prstGeom>
          <a:ln>
            <a:solidFill>
              <a:srgbClr val="4f81bd"/>
            </a:solidFill>
            <a:round/>
            <a:tailEnd len="med" type="arrow" w="med"/>
          </a:ln>
        </p:spPr>
      </p:cxnSp>
      <p:sp>
        <p:nvSpPr>
          <p:cNvPr id="187" name="Oval 10"/>
          <p:cNvSpPr/>
          <p:nvPr/>
        </p:nvSpPr>
        <p:spPr>
          <a:xfrm>
            <a:off x="6192720" y="2905200"/>
            <a:ext cx="725400" cy="760680"/>
          </a:xfrm>
          <a:prstGeom prst="ellipse">
            <a:avLst/>
          </a:prstGeom>
          <a:solidFill>
            <a:srgbClr val="00800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TextBox 11"/>
          <p:cNvSpPr/>
          <p:nvPr/>
        </p:nvSpPr>
        <p:spPr>
          <a:xfrm>
            <a:off x="6258600" y="3164760"/>
            <a:ext cx="5461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r(2)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21"/>
          <p:cNvSpPr/>
          <p:nvPr/>
        </p:nvSpPr>
        <p:spPr>
          <a:xfrm>
            <a:off x="2614680" y="441000"/>
            <a:ext cx="38271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How node collapsing is done (e.g.1)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0" name="Straight Arrow Connector 24"/>
          <p:cNvCxnSpPr>
            <a:stCxn id="187" idx="4"/>
          </p:cNvCxnSpPr>
          <p:nvPr/>
        </p:nvCxnSpPr>
        <p:spPr>
          <a:xfrm flipH="1">
            <a:off x="6048000" y="3665880"/>
            <a:ext cx="507960" cy="1096560"/>
          </a:xfrm>
          <a:prstGeom prst="straightConnector1">
            <a:avLst/>
          </a:prstGeom>
          <a:ln w="3175">
            <a:solidFill>
              <a:srgbClr val="4f81bd"/>
            </a:solidFill>
            <a:prstDash val="dot"/>
            <a:round/>
            <a:headEnd len="med" type="arrow" w="med"/>
          </a:ln>
        </p:spPr>
      </p:cxnSp>
      <p:cxnSp>
        <p:nvCxnSpPr>
          <p:cNvPr id="191" name="Straight Arrow Connector 27"/>
          <p:cNvCxnSpPr>
            <a:stCxn id="183" idx="4"/>
          </p:cNvCxnSpPr>
          <p:nvPr/>
        </p:nvCxnSpPr>
        <p:spPr>
          <a:xfrm>
            <a:off x="4537080" y="3665880"/>
            <a:ext cx="1511280" cy="1096560"/>
          </a:xfrm>
          <a:prstGeom prst="straightConnector1">
            <a:avLst/>
          </a:prstGeom>
          <a:ln w="3175">
            <a:solidFill>
              <a:srgbClr val="4f81bd"/>
            </a:solidFill>
            <a:prstDash val="dot"/>
            <a:round/>
            <a:headEnd len="med" type="arrow" w="med"/>
          </a:ln>
        </p:spPr>
      </p:cxnSp>
      <p:sp>
        <p:nvSpPr>
          <p:cNvPr id="192" name="Rounded Rectangular Callout 30"/>
          <p:cNvSpPr/>
          <p:nvPr/>
        </p:nvSpPr>
        <p:spPr>
          <a:xfrm>
            <a:off x="5544360" y="5079600"/>
            <a:ext cx="2321640" cy="1258200"/>
          </a:xfrm>
          <a:prstGeom prst="wedgeRoundRectCallout">
            <a:avLst>
              <a:gd name="adj1" fmla="val -27974"/>
              <a:gd name="adj2" fmla="val -78663"/>
              <a:gd name="adj3" fmla="val 16667"/>
            </a:avLst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we find w(2) is the matched write for r(2) by comparing values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Freeform 32"/>
          <p:cNvSpPr/>
          <p:nvPr/>
        </p:nvSpPr>
        <p:spPr>
          <a:xfrm>
            <a:off x="4505760" y="2512440"/>
            <a:ext cx="694080" cy="752760"/>
          </a:xfrm>
          <a:custGeom>
            <a:avLst/>
            <a:gdLst>
              <a:gd name="textAreaLeft" fmla="*/ 0 w 694080"/>
              <a:gd name="textAreaRight" fmla="*/ 694440 w 694080"/>
              <a:gd name="textAreaTop" fmla="*/ 0 h 752760"/>
              <a:gd name="textAreaBottom" fmla="*/ 753120 h 752760"/>
              <a:gd name="GluePoint1X" fmla="*/ 393127 w 694393"/>
              <a:gd name="GluePoint1Y" fmla="*/ 753144 h 753144"/>
              <a:gd name="GluePoint2X" fmla="*/ 680413 w 694393"/>
              <a:gd name="GluePoint2Y" fmla="*/ 12352 h 753144"/>
              <a:gd name="GluePoint3X" fmla="*/ 0 w 694393"/>
              <a:gd name="GluePoint3Y" fmla="*/ 360071 h 75314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694393" h="753144">
                <a:moveTo>
                  <a:pt x="393127" y="753144"/>
                </a:moveTo>
                <a:cubicBezTo>
                  <a:pt x="569530" y="415504"/>
                  <a:pt x="745934" y="77864"/>
                  <a:pt x="680413" y="12352"/>
                </a:cubicBezTo>
                <a:cubicBezTo>
                  <a:pt x="614892" y="-53160"/>
                  <a:pt x="307446" y="153455"/>
                  <a:pt x="0" y="360071"/>
                </a:cubicBezTo>
              </a:path>
            </a:pathLst>
          </a:custGeom>
          <a:noFill/>
          <a:ln w="6350">
            <a:solidFill>
              <a:srgbClr val="008000"/>
            </a:solidFill>
            <a:round/>
            <a:tailEnd len="med" type="arrow" w="med"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4" name="Rounded Rectangular Callout 33"/>
          <p:cNvSpPr/>
          <p:nvPr/>
        </p:nvSpPr>
        <p:spPr>
          <a:xfrm>
            <a:off x="5544360" y="1253880"/>
            <a:ext cx="2877120" cy="1258200"/>
          </a:xfrm>
          <a:prstGeom prst="wedgeRoundRectCallout">
            <a:avLst>
              <a:gd name="adj1" fmla="val -62918"/>
              <a:gd name="adj2" fmla="val 54668"/>
              <a:gd name="adj3" fmla="val 16667"/>
            </a:avLst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this edge’s source and destination are the same node, so remove it for simplicity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90AD2CB-D3E4-4B59-B61E-4473626A898A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48" dur="indefinite" restart="never" nodeType="tmRoot">
          <p:childTnLst>
            <p:seq>
              <p:cTn id="149" dur="indefinite" nodeType="mainSeq">
                <p:childTnLst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5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5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60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9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16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8" presetClass="entr" fill="hold" nodeType="clickEffect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Left)" transition="in">
                                      <p:cBhvr additive="repl">
                                        <p:cTn id="170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9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174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9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177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83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7" name="Rounded Rectangle 3"/>
          <p:cNvSpPr/>
          <p:nvPr/>
        </p:nvSpPr>
        <p:spPr>
          <a:xfrm>
            <a:off x="457200" y="181440"/>
            <a:ext cx="8229240" cy="6529680"/>
          </a:xfrm>
          <a:prstGeom prst="roundRect">
            <a:avLst>
              <a:gd name="adj" fmla="val 16667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4bacc6">
                <a:lumMod val="20000"/>
                <a:lumOff val="80000"/>
              </a:srgbClr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Oval 4"/>
          <p:cNvSpPr/>
          <p:nvPr/>
        </p:nvSpPr>
        <p:spPr>
          <a:xfrm>
            <a:off x="2382480" y="2905200"/>
            <a:ext cx="725400" cy="7606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TextBox 5"/>
          <p:cNvSpPr/>
          <p:nvPr/>
        </p:nvSpPr>
        <p:spPr>
          <a:xfrm>
            <a:off x="2472120" y="3137040"/>
            <a:ext cx="5461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W(1)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Oval 6"/>
          <p:cNvSpPr/>
          <p:nvPr/>
        </p:nvSpPr>
        <p:spPr>
          <a:xfrm>
            <a:off x="4174200" y="2905200"/>
            <a:ext cx="725400" cy="7606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extBox 7"/>
          <p:cNvSpPr/>
          <p:nvPr/>
        </p:nvSpPr>
        <p:spPr>
          <a:xfrm>
            <a:off x="4263840" y="3137040"/>
            <a:ext cx="5461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W(2)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2" name="Straight Arrow Connector 8"/>
          <p:cNvCxnSpPr>
            <a:stCxn id="198" idx="6"/>
          </p:cNvCxnSpPr>
          <p:nvPr/>
        </p:nvCxnSpPr>
        <p:spPr>
          <a:xfrm>
            <a:off x="3107880" y="3285720"/>
            <a:ext cx="1066320" cy="18000"/>
          </a:xfrm>
          <a:prstGeom prst="straightConnector1">
            <a:avLst/>
          </a:prstGeom>
          <a:ln>
            <a:solidFill>
              <a:srgbClr val="4f81bd"/>
            </a:solidFill>
            <a:round/>
            <a:tailEnd len="med" type="arrow" w="med"/>
          </a:ln>
        </p:spPr>
      </p:cxnSp>
      <p:cxnSp>
        <p:nvCxnSpPr>
          <p:cNvPr id="203" name="Straight Arrow Connector 9"/>
          <p:cNvCxnSpPr>
            <a:stCxn id="200" idx="6"/>
          </p:cNvCxnSpPr>
          <p:nvPr/>
        </p:nvCxnSpPr>
        <p:spPr>
          <a:xfrm flipV="1">
            <a:off x="4899600" y="3285360"/>
            <a:ext cx="1293120" cy="720"/>
          </a:xfrm>
          <a:prstGeom prst="straightConnector1">
            <a:avLst/>
          </a:prstGeom>
          <a:ln>
            <a:solidFill>
              <a:srgbClr val="4f81bd"/>
            </a:solidFill>
            <a:round/>
            <a:tailEnd len="med" type="arrow" w="med"/>
          </a:ln>
        </p:spPr>
      </p:cxnSp>
      <p:sp>
        <p:nvSpPr>
          <p:cNvPr id="204" name="Oval 10"/>
          <p:cNvSpPr/>
          <p:nvPr/>
        </p:nvSpPr>
        <p:spPr>
          <a:xfrm>
            <a:off x="6192720" y="2905200"/>
            <a:ext cx="725400" cy="760680"/>
          </a:xfrm>
          <a:prstGeom prst="ellipse">
            <a:avLst/>
          </a:prstGeom>
          <a:solidFill>
            <a:srgbClr val="00800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Box 11"/>
          <p:cNvSpPr/>
          <p:nvPr/>
        </p:nvSpPr>
        <p:spPr>
          <a:xfrm>
            <a:off x="6258600" y="3164760"/>
            <a:ext cx="5461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r(1)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21"/>
          <p:cNvSpPr/>
          <p:nvPr/>
        </p:nvSpPr>
        <p:spPr>
          <a:xfrm>
            <a:off x="2614680" y="441000"/>
            <a:ext cx="38271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How node collapsing is done (e.g.2)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7" name="Straight Arrow Connector 24"/>
          <p:cNvCxnSpPr>
            <a:stCxn id="204" idx="4"/>
          </p:cNvCxnSpPr>
          <p:nvPr/>
        </p:nvCxnSpPr>
        <p:spPr>
          <a:xfrm flipH="1">
            <a:off x="6048000" y="3665880"/>
            <a:ext cx="507960" cy="1096560"/>
          </a:xfrm>
          <a:prstGeom prst="straightConnector1">
            <a:avLst/>
          </a:prstGeom>
          <a:ln w="3175">
            <a:solidFill>
              <a:srgbClr val="4f81bd"/>
            </a:solidFill>
            <a:prstDash val="dot"/>
            <a:round/>
            <a:headEnd len="med" type="arrow" w="med"/>
          </a:ln>
        </p:spPr>
      </p:cxnSp>
      <p:cxnSp>
        <p:nvCxnSpPr>
          <p:cNvPr id="208" name="Straight Arrow Connector 27"/>
          <p:cNvCxnSpPr/>
          <p:nvPr/>
        </p:nvCxnSpPr>
        <p:spPr>
          <a:xfrm>
            <a:off x="2812320" y="3666240"/>
            <a:ext cx="3236040" cy="1096200"/>
          </a:xfrm>
          <a:prstGeom prst="straightConnector1">
            <a:avLst/>
          </a:prstGeom>
          <a:ln w="3175">
            <a:solidFill>
              <a:srgbClr val="4f81bd"/>
            </a:solidFill>
            <a:prstDash val="dot"/>
            <a:round/>
            <a:headEnd len="med" type="arrow" w="med"/>
          </a:ln>
        </p:spPr>
      </p:cxnSp>
      <p:sp>
        <p:nvSpPr>
          <p:cNvPr id="209" name="Rounded Rectangular Callout 30"/>
          <p:cNvSpPr/>
          <p:nvPr/>
        </p:nvSpPr>
        <p:spPr>
          <a:xfrm>
            <a:off x="5755320" y="4958640"/>
            <a:ext cx="1373400" cy="649800"/>
          </a:xfrm>
          <a:prstGeom prst="wedgeRoundRectCallout">
            <a:avLst>
              <a:gd name="adj1" fmla="val -27974"/>
              <a:gd name="adj2" fmla="val -78663"/>
              <a:gd name="adj3" fmla="val 16667"/>
            </a:avLst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matched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Freeform 13"/>
          <p:cNvSpPr/>
          <p:nvPr/>
        </p:nvSpPr>
        <p:spPr>
          <a:xfrm>
            <a:off x="2797200" y="1827000"/>
            <a:ext cx="2116440" cy="1437840"/>
          </a:xfrm>
          <a:custGeom>
            <a:avLst/>
            <a:gdLst>
              <a:gd name="textAreaLeft" fmla="*/ 0 w 2116440"/>
              <a:gd name="textAreaRight" fmla="*/ 2116800 w 2116440"/>
              <a:gd name="textAreaTop" fmla="*/ 0 h 1437840"/>
              <a:gd name="textAreaBottom" fmla="*/ 1438200 h 1437840"/>
              <a:gd name="GluePoint1X" fmla="*/ 2116842 w 2116842"/>
              <a:gd name="GluePoint1Y" fmla="*/ 1438355 h 1438355"/>
              <a:gd name="GluePoint2X" fmla="*/ 1678353 w 2116842"/>
              <a:gd name="GluePoint2Y" fmla="*/ 2125 h 1438355"/>
              <a:gd name="GluePoint3X" fmla="*/ 0 w 2116842"/>
              <a:gd name="GluePoint3Y" fmla="*/ 1090636 h 143835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16842" h="1438355">
                <a:moveTo>
                  <a:pt x="2116842" y="1438355"/>
                </a:moveTo>
                <a:cubicBezTo>
                  <a:pt x="2074001" y="749216"/>
                  <a:pt x="2031160" y="60078"/>
                  <a:pt x="1678353" y="2125"/>
                </a:cubicBezTo>
                <a:cubicBezTo>
                  <a:pt x="1325546" y="-55828"/>
                  <a:pt x="0" y="1090636"/>
                  <a:pt x="0" y="1090636"/>
                </a:cubicBezTo>
              </a:path>
            </a:pathLst>
          </a:custGeom>
          <a:noFill/>
          <a:ln w="6350">
            <a:solidFill>
              <a:srgbClr val="c0504d"/>
            </a:solidFill>
            <a:round/>
            <a:tailEnd len="med" type="arrow" w="med"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1" name="Rounded Rectangular Callout 20"/>
          <p:cNvSpPr/>
          <p:nvPr/>
        </p:nvSpPr>
        <p:spPr>
          <a:xfrm>
            <a:off x="5755320" y="1282320"/>
            <a:ext cx="2741040" cy="1089360"/>
          </a:xfrm>
          <a:prstGeom prst="wedgeRoundRectCallout">
            <a:avLst>
              <a:gd name="adj1" fmla="val -115963"/>
              <a:gd name="adj2" fmla="val 79713"/>
              <a:gd name="adj3" fmla="val 16667"/>
            </a:avLst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ff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 cycle formed between w1 and w2 after collapsing! </a:t>
            </a: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Wingdings"/>
              </a:rPr>
              <a:t></a:t>
            </a: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r(2) is an anomaly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56082DC-D58F-4208-BD96-DEA11B4E00BE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84" dur="indefinite" restart="never" nodeType="tmRoot">
          <p:childTnLst>
            <p:seq>
              <p:cTn id="185" dur="indefinite" nodeType="mainSeq">
                <p:childTnLst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8" presetClass="entr" fill="hold" nodeType="clickEffect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Left)" transition="in">
                                      <p:cBhvr additive="repl">
                                        <p:cTn id="190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8" presetClass="entr" fill="hold" nodeType="withEffect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Left)" transition="in">
                                      <p:cBhvr additive="repl">
                                        <p:cTn id="193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8" presetClass="entr" fill="hold" nodeType="withEffect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Left)" transition="in">
                                      <p:cBhvr additive="repl">
                                        <p:cTn id="196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9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200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6" presetClass="entr" fill="hold" nodeType="clickEffect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206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9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210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9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213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6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219" dur="2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/>
          </p:nvPr>
        </p:nvSpPr>
        <p:spPr>
          <a:xfrm>
            <a:off x="457200" y="199800"/>
            <a:ext cx="8229240" cy="613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3" name="TextBox 9"/>
          <p:cNvSpPr/>
          <p:nvPr/>
        </p:nvSpPr>
        <p:spPr>
          <a:xfrm>
            <a:off x="9525960" y="34610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4" name="Rounded Rectangle 10"/>
          <p:cNvSpPr/>
          <p:nvPr/>
        </p:nvSpPr>
        <p:spPr>
          <a:xfrm>
            <a:off x="0" y="0"/>
            <a:ext cx="9143640" cy="6857640"/>
          </a:xfrm>
          <a:prstGeom prst="roundRect">
            <a:avLst>
              <a:gd name="adj" fmla="val 16667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4bacc6">
                <a:lumMod val="20000"/>
                <a:lumOff val="80000"/>
              </a:srgbClr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215" name="Straight Arrow Connector 12"/>
          <p:cNvCxnSpPr/>
          <p:nvPr/>
        </p:nvCxnSpPr>
        <p:spPr>
          <a:xfrm flipV="1">
            <a:off x="457200" y="3117240"/>
            <a:ext cx="8063640" cy="2880"/>
          </a:xfrm>
          <a:prstGeom prst="straightConnector1">
            <a:avLst/>
          </a:prstGeom>
          <a:ln>
            <a:solidFill>
              <a:srgbClr val="000000"/>
            </a:solidFill>
            <a:round/>
            <a:tailEnd len="med" type="arrow" w="med"/>
          </a:ln>
        </p:spPr>
      </p:cxnSp>
      <p:sp>
        <p:nvSpPr>
          <p:cNvPr id="216" name="TextBox 13"/>
          <p:cNvSpPr/>
          <p:nvPr/>
        </p:nvSpPr>
        <p:spPr>
          <a:xfrm>
            <a:off x="3706200" y="3120120"/>
            <a:ext cx="16174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real time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7" name="Straight Connector 14"/>
          <p:cNvCxnSpPr/>
          <p:nvPr/>
        </p:nvCxnSpPr>
        <p:spPr>
          <a:xfrm>
            <a:off x="1031760" y="1438560"/>
            <a:ext cx="1270440" cy="360"/>
          </a:xfrm>
          <a:prstGeom prst="straightConnector1">
            <a:avLst/>
          </a:prstGeom>
          <a:ln w="25400">
            <a:solidFill>
              <a:srgbClr val="000000"/>
            </a:solidFill>
            <a:prstDash val="sysDash"/>
            <a:round/>
          </a:ln>
        </p:spPr>
      </p:cxnSp>
      <p:cxnSp>
        <p:nvCxnSpPr>
          <p:cNvPr id="218" name="Straight Connector 15"/>
          <p:cNvCxnSpPr/>
          <p:nvPr/>
        </p:nvCxnSpPr>
        <p:spPr>
          <a:xfrm>
            <a:off x="1022760" y="121788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cxnSp>
        <p:nvCxnSpPr>
          <p:cNvPr id="219" name="Straight Connector 16"/>
          <p:cNvCxnSpPr/>
          <p:nvPr/>
        </p:nvCxnSpPr>
        <p:spPr>
          <a:xfrm>
            <a:off x="2301840" y="121788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sp>
        <p:nvSpPr>
          <p:cNvPr id="220" name="Rounded Rectangle 17"/>
          <p:cNvSpPr/>
          <p:nvPr/>
        </p:nvSpPr>
        <p:spPr>
          <a:xfrm>
            <a:off x="1334520" y="1321560"/>
            <a:ext cx="657360" cy="26856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4f81bd"/>
            </a:solidFill>
            <a:round/>
            <a:headEnd len="med" type="arrow" w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Vista Sans OT Reg"/>
                <a:ea typeface="ヒラギノ角ゴ ProN W3"/>
              </a:rPr>
              <a:t>W(0)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86"/>
          <p:cNvSpPr/>
          <p:nvPr/>
        </p:nvSpPr>
        <p:spPr>
          <a:xfrm>
            <a:off x="2641320" y="155880"/>
            <a:ext cx="317376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Algorithm Workflow (lookahead)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2" name="Straight Connector 50"/>
          <p:cNvCxnSpPr/>
          <p:nvPr/>
        </p:nvCxnSpPr>
        <p:spPr>
          <a:xfrm>
            <a:off x="2604240" y="2028240"/>
            <a:ext cx="1411560" cy="360"/>
          </a:xfrm>
          <a:prstGeom prst="straightConnector1">
            <a:avLst/>
          </a:prstGeom>
          <a:ln w="25400">
            <a:solidFill>
              <a:srgbClr val="000000"/>
            </a:solidFill>
            <a:prstDash val="sysDash"/>
            <a:round/>
          </a:ln>
        </p:spPr>
      </p:cxnSp>
      <p:cxnSp>
        <p:nvCxnSpPr>
          <p:cNvPr id="223" name="Straight Connector 52"/>
          <p:cNvCxnSpPr/>
          <p:nvPr/>
        </p:nvCxnSpPr>
        <p:spPr>
          <a:xfrm>
            <a:off x="2604240" y="180756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cxnSp>
        <p:nvCxnSpPr>
          <p:cNvPr id="224" name="Straight Connector 55"/>
          <p:cNvCxnSpPr/>
          <p:nvPr/>
        </p:nvCxnSpPr>
        <p:spPr>
          <a:xfrm>
            <a:off x="4015440" y="180756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sp>
        <p:nvSpPr>
          <p:cNvPr id="225" name="Rounded Rectangle 56"/>
          <p:cNvSpPr/>
          <p:nvPr/>
        </p:nvSpPr>
        <p:spPr>
          <a:xfrm>
            <a:off x="3117240" y="1911240"/>
            <a:ext cx="605160" cy="26856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4f81bd"/>
            </a:solidFill>
            <a:round/>
            <a:headEnd len="med" type="arrow" w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Vista Sans OT Reg"/>
                <a:ea typeface="ヒラギノ角ゴ ProN W3"/>
              </a:rPr>
              <a:t>r(1)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6" name="Straight Connector 57"/>
          <p:cNvCxnSpPr/>
          <p:nvPr/>
        </p:nvCxnSpPr>
        <p:spPr>
          <a:xfrm>
            <a:off x="3423600" y="2594880"/>
            <a:ext cx="2518920" cy="360"/>
          </a:xfrm>
          <a:prstGeom prst="straightConnector1">
            <a:avLst/>
          </a:prstGeom>
          <a:ln w="25400">
            <a:solidFill>
              <a:srgbClr val="000000"/>
            </a:solidFill>
            <a:prstDash val="sysDash"/>
            <a:round/>
          </a:ln>
        </p:spPr>
      </p:cxnSp>
      <p:cxnSp>
        <p:nvCxnSpPr>
          <p:cNvPr id="227" name="Straight Connector 58"/>
          <p:cNvCxnSpPr/>
          <p:nvPr/>
        </p:nvCxnSpPr>
        <p:spPr>
          <a:xfrm>
            <a:off x="3423600" y="237420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cxnSp>
        <p:nvCxnSpPr>
          <p:cNvPr id="228" name="Straight Connector 59"/>
          <p:cNvCxnSpPr/>
          <p:nvPr/>
        </p:nvCxnSpPr>
        <p:spPr>
          <a:xfrm>
            <a:off x="5957640" y="239508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sp>
        <p:nvSpPr>
          <p:cNvPr id="229" name="Rounded Rectangle 60"/>
          <p:cNvSpPr/>
          <p:nvPr/>
        </p:nvSpPr>
        <p:spPr>
          <a:xfrm>
            <a:off x="4105440" y="2477880"/>
            <a:ext cx="883800" cy="26856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4f81bd"/>
            </a:solidFill>
            <a:round/>
            <a:headEnd len="med" type="arrow" w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Vista Sans OT Reg"/>
                <a:ea typeface="ヒラギノ角ゴ ProN W3"/>
              </a:rPr>
              <a:t>w(1)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0" name="Straight Arrow Connector 53"/>
          <p:cNvCxnSpPr/>
          <p:nvPr/>
        </p:nvCxnSpPr>
        <p:spPr>
          <a:xfrm>
            <a:off x="-14760" y="1438560"/>
            <a:ext cx="967680" cy="360"/>
          </a:xfrm>
          <a:prstGeom prst="straightConnector1">
            <a:avLst/>
          </a:prstGeom>
          <a:ln>
            <a:solidFill>
              <a:srgbClr val="9bbb59">
                <a:lumMod val="50000"/>
              </a:srgbClr>
            </a:solidFill>
            <a:round/>
            <a:tailEnd len="med" type="arrow" w="med"/>
          </a:ln>
        </p:spPr>
      </p:cxnSp>
      <p:sp>
        <p:nvSpPr>
          <p:cNvPr id="231" name="TextBox 54"/>
          <p:cNvSpPr/>
          <p:nvPr/>
        </p:nvSpPr>
        <p:spPr>
          <a:xfrm>
            <a:off x="196560" y="1130760"/>
            <a:ext cx="6498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Step 1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2" name="Straight Arrow Connector 87"/>
          <p:cNvCxnSpPr/>
          <p:nvPr/>
        </p:nvCxnSpPr>
        <p:spPr>
          <a:xfrm>
            <a:off x="820080" y="2028240"/>
            <a:ext cx="968040" cy="360"/>
          </a:xfrm>
          <a:prstGeom prst="straightConnector1">
            <a:avLst/>
          </a:prstGeom>
          <a:ln>
            <a:solidFill>
              <a:srgbClr val="9bbb59">
                <a:lumMod val="50000"/>
              </a:srgbClr>
            </a:solidFill>
            <a:round/>
            <a:tailEnd len="med" type="arrow" w="med"/>
          </a:ln>
        </p:spPr>
      </p:cxnSp>
      <p:sp>
        <p:nvSpPr>
          <p:cNvPr id="233" name="TextBox 88"/>
          <p:cNvSpPr/>
          <p:nvPr/>
        </p:nvSpPr>
        <p:spPr>
          <a:xfrm>
            <a:off x="1031760" y="1720800"/>
            <a:ext cx="6498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Step 2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4" name="Straight Arrow Connector 92"/>
          <p:cNvCxnSpPr/>
          <p:nvPr/>
        </p:nvCxnSpPr>
        <p:spPr>
          <a:xfrm>
            <a:off x="1264320" y="2594880"/>
            <a:ext cx="968040" cy="360"/>
          </a:xfrm>
          <a:prstGeom prst="straightConnector1">
            <a:avLst/>
          </a:prstGeom>
          <a:ln>
            <a:solidFill>
              <a:srgbClr val="9bbb59">
                <a:lumMod val="50000"/>
              </a:srgbClr>
            </a:solidFill>
            <a:round/>
            <a:tailEnd len="med" type="arrow" w="med"/>
          </a:ln>
        </p:spPr>
      </p:cxnSp>
      <p:sp>
        <p:nvSpPr>
          <p:cNvPr id="235" name="TextBox 93"/>
          <p:cNvSpPr/>
          <p:nvPr/>
        </p:nvSpPr>
        <p:spPr>
          <a:xfrm>
            <a:off x="1031760" y="2285280"/>
            <a:ext cx="15235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Step 3 look ahead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Rounded Rectangular Callout 94"/>
          <p:cNvSpPr/>
          <p:nvPr/>
        </p:nvSpPr>
        <p:spPr>
          <a:xfrm>
            <a:off x="1031760" y="2898720"/>
            <a:ext cx="2111040" cy="990720"/>
          </a:xfrm>
          <a:prstGeom prst="wedgeRoundRectCallout">
            <a:avLst>
              <a:gd name="adj1" fmla="val -27974"/>
              <a:gd name="adj2" fmla="val -78663"/>
              <a:gd name="adj3" fmla="val 16667"/>
            </a:avLst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Need to lookahead bc r1 and w1 overlap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7" name="Straight Arrow Connector 95"/>
          <p:cNvCxnSpPr/>
          <p:nvPr/>
        </p:nvCxnSpPr>
        <p:spPr>
          <a:xfrm flipH="1">
            <a:off x="4122000" y="1341000"/>
            <a:ext cx="1481760" cy="590040"/>
          </a:xfrm>
          <a:prstGeom prst="straightConnector1">
            <a:avLst/>
          </a:prstGeom>
          <a:ln>
            <a:solidFill>
              <a:srgbClr val="9bbb59">
                <a:lumMod val="50000"/>
              </a:srgbClr>
            </a:solidFill>
            <a:round/>
            <a:tailEnd len="med" type="arrow" w="med"/>
          </a:ln>
        </p:spPr>
      </p:cxnSp>
      <p:sp>
        <p:nvSpPr>
          <p:cNvPr id="238" name="TextBox 96"/>
          <p:cNvSpPr/>
          <p:nvPr/>
        </p:nvSpPr>
        <p:spPr>
          <a:xfrm>
            <a:off x="5616720" y="1167480"/>
            <a:ext cx="1161720" cy="49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Step 4, check for anomaly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Oval 97"/>
          <p:cNvSpPr/>
          <p:nvPr/>
        </p:nvSpPr>
        <p:spPr>
          <a:xfrm>
            <a:off x="2019600" y="3993840"/>
            <a:ext cx="725400" cy="7606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0" name="TextBox 98"/>
          <p:cNvSpPr/>
          <p:nvPr/>
        </p:nvSpPr>
        <p:spPr>
          <a:xfrm>
            <a:off x="2109240" y="4225680"/>
            <a:ext cx="5461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W(0)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Oval 99"/>
          <p:cNvSpPr/>
          <p:nvPr/>
        </p:nvSpPr>
        <p:spPr>
          <a:xfrm>
            <a:off x="4411800" y="3993840"/>
            <a:ext cx="725400" cy="760680"/>
          </a:xfrm>
          <a:prstGeom prst="ellipse">
            <a:avLst/>
          </a:prstGeom>
          <a:solidFill>
            <a:srgbClr val="008000"/>
          </a:solidFill>
          <a:ln>
            <a:solidFill>
              <a:srgbClr val="008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TextBox 100"/>
          <p:cNvSpPr/>
          <p:nvPr/>
        </p:nvSpPr>
        <p:spPr>
          <a:xfrm>
            <a:off x="4476600" y="4235760"/>
            <a:ext cx="5461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r(1)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3" name="Straight Arrow Connector 101"/>
          <p:cNvCxnSpPr>
            <a:stCxn id="239" idx="6"/>
          </p:cNvCxnSpPr>
          <p:nvPr/>
        </p:nvCxnSpPr>
        <p:spPr>
          <a:xfrm>
            <a:off x="2745000" y="4374360"/>
            <a:ext cx="1666800" cy="17640"/>
          </a:xfrm>
          <a:prstGeom prst="straightConnector1">
            <a:avLst/>
          </a:prstGeom>
          <a:ln>
            <a:solidFill>
              <a:srgbClr val="4f81bd"/>
            </a:solidFill>
            <a:round/>
            <a:tailEnd len="med" type="arrow" w="med"/>
          </a:ln>
        </p:spPr>
      </p:cxnSp>
      <p:cxnSp>
        <p:nvCxnSpPr>
          <p:cNvPr id="244" name="Straight Arrow Connector 102"/>
          <p:cNvCxnSpPr>
            <a:endCxn id="245" idx="2"/>
          </p:cNvCxnSpPr>
          <p:nvPr/>
        </p:nvCxnSpPr>
        <p:spPr>
          <a:xfrm>
            <a:off x="2745000" y="4391640"/>
            <a:ext cx="1667160" cy="1472040"/>
          </a:xfrm>
          <a:prstGeom prst="straightConnector1">
            <a:avLst/>
          </a:prstGeom>
          <a:ln>
            <a:solidFill>
              <a:srgbClr val="4f81bd"/>
            </a:solidFill>
            <a:round/>
            <a:tailEnd len="med" type="arrow" w="med"/>
          </a:ln>
        </p:spPr>
      </p:cxnSp>
      <p:sp>
        <p:nvSpPr>
          <p:cNvPr id="245" name="Oval 103"/>
          <p:cNvSpPr/>
          <p:nvPr/>
        </p:nvSpPr>
        <p:spPr>
          <a:xfrm>
            <a:off x="4411800" y="5482800"/>
            <a:ext cx="725400" cy="7606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6" name="TextBox 104"/>
          <p:cNvSpPr/>
          <p:nvPr/>
        </p:nvSpPr>
        <p:spPr>
          <a:xfrm>
            <a:off x="4476600" y="5742360"/>
            <a:ext cx="5461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W(1)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Freeform 11"/>
          <p:cNvSpPr/>
          <p:nvPr/>
        </p:nvSpPr>
        <p:spPr>
          <a:xfrm>
            <a:off x="2745360" y="4392000"/>
            <a:ext cx="1666080" cy="1470960"/>
          </a:xfrm>
          <a:custGeom>
            <a:avLst/>
            <a:gdLst>
              <a:gd name="textAreaLeft" fmla="*/ 0 w 1666080"/>
              <a:gd name="textAreaRight" fmla="*/ 1666440 w 1666080"/>
              <a:gd name="textAreaTop" fmla="*/ 0 h 1470960"/>
              <a:gd name="textAreaBottom" fmla="*/ 1471320 h 1470960"/>
              <a:gd name="GluePoint1X" fmla="*/ 0 w 508000"/>
              <a:gd name="GluePoint1Y" fmla="*/ 0 h 412750"/>
              <a:gd name="GluePoint2X" fmla="*/ 508000 w 508000"/>
              <a:gd name="GluePoint2Y" fmla="*/ 412750 h 4127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508000" h="412750">
                <a:moveTo>
                  <a:pt x="0" y="0"/>
                </a:moveTo>
                <a:cubicBezTo>
                  <a:pt x="246062" y="145521"/>
                  <a:pt x="492125" y="291042"/>
                  <a:pt x="508000" y="412750"/>
                </a:cubicBezTo>
              </a:path>
            </a:pathLst>
          </a:custGeom>
          <a:noFill/>
          <a:ln w="6350">
            <a:solidFill>
              <a:srgbClr val="008000"/>
            </a:solidFill>
            <a:round/>
            <a:tailEnd len="med" type="arrow" w="med"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8" name="Rounded Rectangular Callout 113"/>
          <p:cNvSpPr/>
          <p:nvPr/>
        </p:nvSpPr>
        <p:spPr>
          <a:xfrm>
            <a:off x="6387840" y="4374360"/>
            <a:ext cx="2111040" cy="990720"/>
          </a:xfrm>
          <a:prstGeom prst="wedgeRoundRectCallout">
            <a:avLst>
              <a:gd name="adj1" fmla="val -112185"/>
              <a:gd name="adj2" fmla="val 67117"/>
              <a:gd name="adj3" fmla="val 16667"/>
            </a:avLst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No cycles, r(1) is not an anomaly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00B7987-EC3E-4F65-B7E4-9D8D4C9F8088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20" dur="indefinite" restart="never" nodeType="tmRoot">
          <p:childTnLst>
            <p:seq>
              <p:cTn id="221" dur="indefinite" nodeType="mainSeq">
                <p:childTnLst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26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7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8" presetID="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30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1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2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34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37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42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3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4" presetID="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46" dur="5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7" dur="5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8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50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53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58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63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4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5" presetID="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67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8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9" presetID="6" presetClass="entr" fill="hold" nodeType="with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271" dur="2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6" presetClass="entr" fill="hold" nodeType="with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274" dur="20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79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84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2" presetClass="entr" fill="hold" nodeType="clickEffect" presetSubtype="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89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0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1" presetID="2" presetClass="entr" fill="hold" nodeType="withEffect" presetSubtype="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93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4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9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298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04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5" presetClass="exit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checkerboard(across)" transition="out">
                                      <p:cBhvr additive="repl">
                                        <p:cTn id="308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5" presetClass="exit" fill="hold" nodeType="withEffect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checkerboard(across)" transition="out">
                                      <p:cBhvr additive="repl">
                                        <p:cTn id="311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3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317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/>
          </p:nvPr>
        </p:nvSpPr>
        <p:spPr>
          <a:xfrm>
            <a:off x="457200" y="199800"/>
            <a:ext cx="8229240" cy="613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0" name="TextBox 9"/>
          <p:cNvSpPr/>
          <p:nvPr/>
        </p:nvSpPr>
        <p:spPr>
          <a:xfrm>
            <a:off x="9525960" y="34610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1" name="Rounded Rectangle 10"/>
          <p:cNvSpPr/>
          <p:nvPr/>
        </p:nvSpPr>
        <p:spPr>
          <a:xfrm>
            <a:off x="0" y="0"/>
            <a:ext cx="9143640" cy="6857640"/>
          </a:xfrm>
          <a:prstGeom prst="roundRect">
            <a:avLst>
              <a:gd name="adj" fmla="val 16667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4bacc6">
                <a:lumMod val="20000"/>
                <a:lumOff val="80000"/>
              </a:srgbClr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252" name="Straight Arrow Connector 12"/>
          <p:cNvCxnSpPr/>
          <p:nvPr/>
        </p:nvCxnSpPr>
        <p:spPr>
          <a:xfrm flipV="1">
            <a:off x="435600" y="3526920"/>
            <a:ext cx="8063640" cy="2880"/>
          </a:xfrm>
          <a:prstGeom prst="straightConnector1">
            <a:avLst/>
          </a:prstGeom>
          <a:ln>
            <a:solidFill>
              <a:srgbClr val="000000"/>
            </a:solidFill>
            <a:round/>
            <a:tailEnd len="med" type="arrow" w="med"/>
          </a:ln>
        </p:spPr>
      </p:cxnSp>
      <p:sp>
        <p:nvSpPr>
          <p:cNvPr id="253" name="TextBox 13"/>
          <p:cNvSpPr/>
          <p:nvPr/>
        </p:nvSpPr>
        <p:spPr>
          <a:xfrm>
            <a:off x="3684600" y="3529800"/>
            <a:ext cx="16174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real time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4" name="Straight Connector 14"/>
          <p:cNvCxnSpPr/>
          <p:nvPr/>
        </p:nvCxnSpPr>
        <p:spPr>
          <a:xfrm>
            <a:off x="1031760" y="1438560"/>
            <a:ext cx="4271040" cy="360"/>
          </a:xfrm>
          <a:prstGeom prst="straightConnector1">
            <a:avLst/>
          </a:prstGeom>
          <a:ln w="25400">
            <a:solidFill>
              <a:srgbClr val="000000"/>
            </a:solidFill>
            <a:prstDash val="sysDash"/>
            <a:round/>
          </a:ln>
        </p:spPr>
      </p:cxnSp>
      <p:cxnSp>
        <p:nvCxnSpPr>
          <p:cNvPr id="255" name="Straight Connector 15"/>
          <p:cNvCxnSpPr/>
          <p:nvPr/>
        </p:nvCxnSpPr>
        <p:spPr>
          <a:xfrm>
            <a:off x="1022760" y="121788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cxnSp>
        <p:nvCxnSpPr>
          <p:cNvPr id="256" name="Straight Connector 16"/>
          <p:cNvCxnSpPr/>
          <p:nvPr/>
        </p:nvCxnSpPr>
        <p:spPr>
          <a:xfrm>
            <a:off x="5302440" y="124380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sp>
        <p:nvSpPr>
          <p:cNvPr id="257" name="Rounded Rectangle 17"/>
          <p:cNvSpPr/>
          <p:nvPr/>
        </p:nvSpPr>
        <p:spPr>
          <a:xfrm>
            <a:off x="2641320" y="1321560"/>
            <a:ext cx="657360" cy="26856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4f81bd"/>
            </a:solidFill>
            <a:round/>
            <a:headEnd len="med" type="arrow" w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Vista Sans OT Reg"/>
                <a:ea typeface="ヒラギノ角ゴ ProN W3"/>
              </a:rPr>
              <a:t>W(0)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86"/>
          <p:cNvSpPr/>
          <p:nvPr/>
        </p:nvSpPr>
        <p:spPr>
          <a:xfrm>
            <a:off x="2641320" y="155880"/>
            <a:ext cx="317376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Algorithm Workflow (adjust write’s resp_time)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9" name="Straight Connector 50"/>
          <p:cNvCxnSpPr/>
          <p:nvPr/>
        </p:nvCxnSpPr>
        <p:spPr>
          <a:xfrm>
            <a:off x="1193400" y="2028240"/>
            <a:ext cx="1038960" cy="360"/>
          </a:xfrm>
          <a:prstGeom prst="straightConnector1">
            <a:avLst/>
          </a:prstGeom>
          <a:ln w="25400">
            <a:solidFill>
              <a:srgbClr val="000000"/>
            </a:solidFill>
            <a:prstDash val="sysDash"/>
            <a:round/>
          </a:ln>
        </p:spPr>
      </p:cxnSp>
      <p:cxnSp>
        <p:nvCxnSpPr>
          <p:cNvPr id="260" name="Straight Connector 52"/>
          <p:cNvCxnSpPr/>
          <p:nvPr/>
        </p:nvCxnSpPr>
        <p:spPr>
          <a:xfrm>
            <a:off x="1193400" y="180756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cxnSp>
        <p:nvCxnSpPr>
          <p:cNvPr id="261" name="Straight Connector 55"/>
          <p:cNvCxnSpPr/>
          <p:nvPr/>
        </p:nvCxnSpPr>
        <p:spPr>
          <a:xfrm>
            <a:off x="2264760" y="180756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sp>
        <p:nvSpPr>
          <p:cNvPr id="262" name="Rounded Rectangle 56"/>
          <p:cNvSpPr/>
          <p:nvPr/>
        </p:nvSpPr>
        <p:spPr>
          <a:xfrm>
            <a:off x="1415880" y="1911240"/>
            <a:ext cx="605160" cy="26856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4f81bd"/>
            </a:solidFill>
            <a:round/>
            <a:headEnd len="med" type="arrow" w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Vista Sans OT Reg"/>
                <a:ea typeface="ヒラギノ角ゴ ProN W3"/>
              </a:rPr>
              <a:t>r(0)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3" name="Straight Connector 57"/>
          <p:cNvCxnSpPr/>
          <p:nvPr/>
        </p:nvCxnSpPr>
        <p:spPr>
          <a:xfrm>
            <a:off x="2471400" y="2570400"/>
            <a:ext cx="1053000" cy="360"/>
          </a:xfrm>
          <a:prstGeom prst="straightConnector1">
            <a:avLst/>
          </a:prstGeom>
          <a:ln w="25400">
            <a:solidFill>
              <a:srgbClr val="000000"/>
            </a:solidFill>
            <a:prstDash val="sysDash"/>
            <a:round/>
          </a:ln>
        </p:spPr>
      </p:cxnSp>
      <p:cxnSp>
        <p:nvCxnSpPr>
          <p:cNvPr id="264" name="Straight Connector 58"/>
          <p:cNvCxnSpPr/>
          <p:nvPr/>
        </p:nvCxnSpPr>
        <p:spPr>
          <a:xfrm>
            <a:off x="2471400" y="235008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cxnSp>
        <p:nvCxnSpPr>
          <p:cNvPr id="265" name="Straight Connector 59"/>
          <p:cNvCxnSpPr/>
          <p:nvPr/>
        </p:nvCxnSpPr>
        <p:spPr>
          <a:xfrm>
            <a:off x="3560400" y="237060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sp>
        <p:nvSpPr>
          <p:cNvPr id="266" name="Rounded Rectangle 60"/>
          <p:cNvSpPr/>
          <p:nvPr/>
        </p:nvSpPr>
        <p:spPr>
          <a:xfrm>
            <a:off x="2711160" y="2453400"/>
            <a:ext cx="587880" cy="26856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4f81bd"/>
            </a:solidFill>
            <a:round/>
            <a:headEnd len="med" type="arrow" w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Vista Sans OT Reg"/>
                <a:ea typeface="ヒラギノ角ゴ ProN W3"/>
              </a:rPr>
              <a:t>w(1)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7" name="Straight Arrow Connector 53"/>
          <p:cNvCxnSpPr/>
          <p:nvPr/>
        </p:nvCxnSpPr>
        <p:spPr>
          <a:xfrm>
            <a:off x="-14760" y="1438560"/>
            <a:ext cx="967680" cy="360"/>
          </a:xfrm>
          <a:prstGeom prst="straightConnector1">
            <a:avLst/>
          </a:prstGeom>
          <a:ln>
            <a:solidFill>
              <a:srgbClr val="9bbb59">
                <a:lumMod val="50000"/>
              </a:srgbClr>
            </a:solidFill>
            <a:round/>
            <a:tailEnd len="med" type="arrow" w="med"/>
          </a:ln>
        </p:spPr>
      </p:cxnSp>
      <p:sp>
        <p:nvSpPr>
          <p:cNvPr id="268" name="TextBox 54"/>
          <p:cNvSpPr/>
          <p:nvPr/>
        </p:nvSpPr>
        <p:spPr>
          <a:xfrm>
            <a:off x="196560" y="1130760"/>
            <a:ext cx="6498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Step 1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9" name="Straight Arrow Connector 87"/>
          <p:cNvCxnSpPr>
            <a:stCxn id="270" idx="1"/>
          </p:cNvCxnSpPr>
          <p:nvPr/>
        </p:nvCxnSpPr>
        <p:spPr>
          <a:xfrm flipH="1" flipV="1">
            <a:off x="2286360" y="2028240"/>
            <a:ext cx="1314000" cy="69480"/>
          </a:xfrm>
          <a:prstGeom prst="straightConnector1">
            <a:avLst/>
          </a:prstGeom>
          <a:ln>
            <a:solidFill>
              <a:srgbClr val="9bbb59">
                <a:lumMod val="50000"/>
              </a:srgbClr>
            </a:solidFill>
            <a:round/>
            <a:tailEnd len="med" type="arrow" w="med"/>
          </a:ln>
        </p:spPr>
      </p:cxnSp>
      <p:sp>
        <p:nvSpPr>
          <p:cNvPr id="270" name="TextBox 88"/>
          <p:cNvSpPr/>
          <p:nvPr/>
        </p:nvSpPr>
        <p:spPr>
          <a:xfrm>
            <a:off x="3600000" y="1774440"/>
            <a:ext cx="153720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Step 3 check anomaly for r(0), and adjust w(0)’s resp_time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1" name="Straight Arrow Connector 92"/>
          <p:cNvCxnSpPr/>
          <p:nvPr/>
        </p:nvCxnSpPr>
        <p:spPr>
          <a:xfrm>
            <a:off x="595440" y="2650320"/>
            <a:ext cx="968040" cy="360"/>
          </a:xfrm>
          <a:prstGeom prst="straightConnector1">
            <a:avLst/>
          </a:prstGeom>
          <a:ln>
            <a:solidFill>
              <a:srgbClr val="9bbb59">
                <a:lumMod val="50000"/>
              </a:srgbClr>
            </a:solidFill>
            <a:round/>
            <a:tailEnd len="med" type="arrow" w="med"/>
          </a:ln>
        </p:spPr>
      </p:cxnSp>
      <p:sp>
        <p:nvSpPr>
          <p:cNvPr id="272" name="TextBox 93"/>
          <p:cNvSpPr/>
          <p:nvPr/>
        </p:nvSpPr>
        <p:spPr>
          <a:xfrm>
            <a:off x="846720" y="2282040"/>
            <a:ext cx="71388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Step 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Oval 97"/>
          <p:cNvSpPr/>
          <p:nvPr/>
        </p:nvSpPr>
        <p:spPr>
          <a:xfrm>
            <a:off x="2074680" y="4530240"/>
            <a:ext cx="725400" cy="7606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4" name="TextBox 98"/>
          <p:cNvSpPr/>
          <p:nvPr/>
        </p:nvSpPr>
        <p:spPr>
          <a:xfrm>
            <a:off x="2164320" y="4762440"/>
            <a:ext cx="5461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W(0)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Oval 99"/>
          <p:cNvSpPr/>
          <p:nvPr/>
        </p:nvSpPr>
        <p:spPr>
          <a:xfrm>
            <a:off x="2169000" y="5777280"/>
            <a:ext cx="725400" cy="760680"/>
          </a:xfrm>
          <a:prstGeom prst="ellipse">
            <a:avLst/>
          </a:prstGeom>
          <a:solidFill>
            <a:srgbClr val="008000"/>
          </a:solidFill>
          <a:ln>
            <a:solidFill>
              <a:srgbClr val="008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6" name="TextBox 100"/>
          <p:cNvSpPr/>
          <p:nvPr/>
        </p:nvSpPr>
        <p:spPr>
          <a:xfrm>
            <a:off x="2164320" y="6019560"/>
            <a:ext cx="5461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R(0)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Oval 103"/>
          <p:cNvSpPr/>
          <p:nvPr/>
        </p:nvSpPr>
        <p:spPr>
          <a:xfrm>
            <a:off x="3834000" y="4530240"/>
            <a:ext cx="725400" cy="7606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8" name="TextBox 104"/>
          <p:cNvSpPr/>
          <p:nvPr/>
        </p:nvSpPr>
        <p:spPr>
          <a:xfrm>
            <a:off x="3929760" y="4762440"/>
            <a:ext cx="5461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W(1)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Freeform 11"/>
          <p:cNvSpPr/>
          <p:nvPr/>
        </p:nvSpPr>
        <p:spPr>
          <a:xfrm flipV="1">
            <a:off x="2435400" y="5290920"/>
            <a:ext cx="45360" cy="485640"/>
          </a:xfrm>
          <a:custGeom>
            <a:avLst/>
            <a:gdLst>
              <a:gd name="textAreaLeft" fmla="*/ 0 w 45360"/>
              <a:gd name="textAreaRight" fmla="*/ 45720 w 45360"/>
              <a:gd name="textAreaTop" fmla="*/ -360 h 485640"/>
              <a:gd name="textAreaBottom" fmla="*/ 485640 h 485640"/>
              <a:gd name="GluePoint1X" fmla="*/ 0 w 508000"/>
              <a:gd name="GluePoint1Y" fmla="*/ 0 h 412750"/>
              <a:gd name="GluePoint2X" fmla="*/ 508000 w 508000"/>
              <a:gd name="GluePoint2Y" fmla="*/ 412750 h 4127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508000" h="412750">
                <a:moveTo>
                  <a:pt x="0" y="0"/>
                </a:moveTo>
                <a:cubicBezTo>
                  <a:pt x="246062" y="145521"/>
                  <a:pt x="492125" y="291042"/>
                  <a:pt x="508000" y="412750"/>
                </a:cubicBezTo>
              </a:path>
            </a:pathLst>
          </a:custGeom>
          <a:noFill/>
          <a:ln w="6350">
            <a:solidFill>
              <a:srgbClr val="008000"/>
            </a:solidFill>
            <a:round/>
            <a:tailEnd len="med" type="arrow" w="med"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0" name="Rounded Rectangular Callout 113"/>
          <p:cNvSpPr/>
          <p:nvPr/>
        </p:nvSpPr>
        <p:spPr>
          <a:xfrm>
            <a:off x="3771000" y="831600"/>
            <a:ext cx="4547160" cy="1196280"/>
          </a:xfrm>
          <a:prstGeom prst="wedgeRoundRectCallout">
            <a:avLst>
              <a:gd name="adj1" fmla="val -82298"/>
              <a:gd name="adj2" fmla="val -891"/>
              <a:gd name="adj3" fmla="val 16667"/>
            </a:avLst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Since r(0) reads w(0)’s value, then w(0) is guaranteed to finish before r(0) finishes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1" name="Straight Connector 38"/>
          <p:cNvCxnSpPr/>
          <p:nvPr/>
        </p:nvCxnSpPr>
        <p:spPr>
          <a:xfrm>
            <a:off x="3770640" y="3000240"/>
            <a:ext cx="1411560" cy="360"/>
          </a:xfrm>
          <a:prstGeom prst="straightConnector1">
            <a:avLst/>
          </a:prstGeom>
          <a:ln w="25400">
            <a:solidFill>
              <a:srgbClr val="000000"/>
            </a:solidFill>
            <a:prstDash val="sysDash"/>
            <a:round/>
          </a:ln>
        </p:spPr>
      </p:cxnSp>
      <p:cxnSp>
        <p:nvCxnSpPr>
          <p:cNvPr id="282" name="Straight Connector 39"/>
          <p:cNvCxnSpPr/>
          <p:nvPr/>
        </p:nvCxnSpPr>
        <p:spPr>
          <a:xfrm>
            <a:off x="3770640" y="277956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cxnSp>
        <p:nvCxnSpPr>
          <p:cNvPr id="283" name="Straight Connector 40"/>
          <p:cNvCxnSpPr/>
          <p:nvPr/>
        </p:nvCxnSpPr>
        <p:spPr>
          <a:xfrm>
            <a:off x="5181840" y="277956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sp>
        <p:nvSpPr>
          <p:cNvPr id="284" name="Rounded Rectangle 41"/>
          <p:cNvSpPr/>
          <p:nvPr/>
        </p:nvSpPr>
        <p:spPr>
          <a:xfrm>
            <a:off x="4283640" y="2882880"/>
            <a:ext cx="605160" cy="26856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4f81bd"/>
            </a:solidFill>
            <a:round/>
            <a:headEnd len="med" type="arrow" w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Vista Sans OT Reg"/>
                <a:ea typeface="ヒラギノ角ゴ ProN W3"/>
              </a:rPr>
              <a:t>r(0)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5" name="Straight Arrow Connector 48"/>
          <p:cNvCxnSpPr>
            <a:stCxn id="273" idx="6"/>
            <a:endCxn id="277" idx="2"/>
          </p:cNvCxnSpPr>
          <p:nvPr/>
        </p:nvCxnSpPr>
        <p:spPr>
          <a:xfrm>
            <a:off x="2800080" y="4910760"/>
            <a:ext cx="1034280" cy="360"/>
          </a:xfrm>
          <a:prstGeom prst="straightConnector1">
            <a:avLst/>
          </a:prstGeom>
          <a:ln>
            <a:solidFill>
              <a:srgbClr val="4f81bd"/>
            </a:solidFill>
            <a:round/>
            <a:tailEnd len="med" type="arrow" w="med"/>
          </a:ln>
        </p:spPr>
      </p:cxnSp>
      <p:sp>
        <p:nvSpPr>
          <p:cNvPr id="286" name="Rounded Rectangular Callout 51"/>
          <p:cNvSpPr/>
          <p:nvPr/>
        </p:nvSpPr>
        <p:spPr>
          <a:xfrm>
            <a:off x="-32760" y="3771360"/>
            <a:ext cx="2111040" cy="990720"/>
          </a:xfrm>
          <a:prstGeom prst="wedgeRoundRectCallout">
            <a:avLst>
              <a:gd name="adj1" fmla="val 108116"/>
              <a:gd name="adj2" fmla="val 60709"/>
              <a:gd name="adj3" fmla="val 16667"/>
            </a:avLst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Now there an edge, bc w(0)’s time was adjusted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Oval 61"/>
          <p:cNvSpPr/>
          <p:nvPr/>
        </p:nvSpPr>
        <p:spPr>
          <a:xfrm>
            <a:off x="5477040" y="4520160"/>
            <a:ext cx="725400" cy="760680"/>
          </a:xfrm>
          <a:prstGeom prst="ellipse">
            <a:avLst/>
          </a:prstGeom>
          <a:solidFill>
            <a:srgbClr val="008000"/>
          </a:solidFill>
          <a:ln>
            <a:solidFill>
              <a:srgbClr val="008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8" name="TextBox 62"/>
          <p:cNvSpPr/>
          <p:nvPr/>
        </p:nvSpPr>
        <p:spPr>
          <a:xfrm>
            <a:off x="5541840" y="4762440"/>
            <a:ext cx="5461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r(0)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9" name="Straight Arrow Connector 63"/>
          <p:cNvCxnSpPr>
            <a:stCxn id="277" idx="6"/>
          </p:cNvCxnSpPr>
          <p:nvPr/>
        </p:nvCxnSpPr>
        <p:spPr>
          <a:xfrm>
            <a:off x="4559400" y="4910760"/>
            <a:ext cx="918000" cy="360"/>
          </a:xfrm>
          <a:prstGeom prst="straightConnector1">
            <a:avLst/>
          </a:prstGeom>
          <a:ln>
            <a:solidFill>
              <a:srgbClr val="4f81bd"/>
            </a:solidFill>
            <a:round/>
            <a:tailEnd len="med" type="arrow" w="med"/>
          </a:ln>
        </p:spPr>
      </p:cxnSp>
      <p:sp>
        <p:nvSpPr>
          <p:cNvPr id="290" name="Freeform 23"/>
          <p:cNvSpPr/>
          <p:nvPr/>
        </p:nvSpPr>
        <p:spPr>
          <a:xfrm>
            <a:off x="2809800" y="4921200"/>
            <a:ext cx="1777680" cy="1206000"/>
          </a:xfrm>
          <a:custGeom>
            <a:avLst/>
            <a:gdLst>
              <a:gd name="textAreaLeft" fmla="*/ 0 w 1777680"/>
              <a:gd name="textAreaRight" fmla="*/ 1778040 w 1777680"/>
              <a:gd name="textAreaTop" fmla="*/ 0 h 1206000"/>
              <a:gd name="textAreaBottom" fmla="*/ 1206360 h 1206000"/>
              <a:gd name="GluePoint1X" fmla="*/ 1778000 w 1778000"/>
              <a:gd name="GluePoint1Y" fmla="*/ 0 h 1206508"/>
              <a:gd name="GluePoint2X" fmla="*/ 762000 w 1778000"/>
              <a:gd name="GluePoint2Y" fmla="*/ 1206500 h 1206508"/>
              <a:gd name="GluePoint3X" fmla="*/ 0 w 1778000"/>
              <a:gd name="GluePoint3Y" fmla="*/ 15875 h 120650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1778000" h="1206508">
                <a:moveTo>
                  <a:pt x="1778000" y="0"/>
                </a:moveTo>
                <a:cubicBezTo>
                  <a:pt x="1418166" y="601927"/>
                  <a:pt x="1058333" y="1203854"/>
                  <a:pt x="762000" y="1206500"/>
                </a:cubicBezTo>
                <a:cubicBezTo>
                  <a:pt x="465667" y="1209146"/>
                  <a:pt x="232833" y="612510"/>
                  <a:pt x="0" y="15875"/>
                </a:cubicBezTo>
              </a:path>
            </a:pathLst>
          </a:custGeom>
          <a:noFill/>
          <a:ln w="6350">
            <a:solidFill>
              <a:srgbClr val="ff0000"/>
            </a:solidFill>
            <a:round/>
            <a:tailEnd len="med" type="arrow" w="med"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291" name="Straight Arrow Connector 64"/>
          <p:cNvCxnSpPr/>
          <p:nvPr/>
        </p:nvCxnSpPr>
        <p:spPr>
          <a:xfrm>
            <a:off x="1266120" y="3080880"/>
            <a:ext cx="968040" cy="360"/>
          </a:xfrm>
          <a:prstGeom prst="straightConnector1">
            <a:avLst/>
          </a:prstGeom>
          <a:ln>
            <a:solidFill>
              <a:srgbClr val="9bbb59">
                <a:lumMod val="50000"/>
              </a:srgbClr>
            </a:solidFill>
            <a:round/>
            <a:tailEnd len="med" type="arrow" w="med"/>
          </a:ln>
        </p:spPr>
      </p:cxnSp>
      <p:sp>
        <p:nvSpPr>
          <p:cNvPr id="292" name="TextBox 65"/>
          <p:cNvSpPr/>
          <p:nvPr/>
        </p:nvSpPr>
        <p:spPr>
          <a:xfrm>
            <a:off x="1517760" y="2779560"/>
            <a:ext cx="71388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Step 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3" name="Straight Arrow Connector 66"/>
          <p:cNvCxnSpPr/>
          <p:nvPr/>
        </p:nvCxnSpPr>
        <p:spPr>
          <a:xfrm>
            <a:off x="-2160" y="2051640"/>
            <a:ext cx="967680" cy="360"/>
          </a:xfrm>
          <a:prstGeom prst="straightConnector1">
            <a:avLst/>
          </a:prstGeom>
          <a:ln>
            <a:solidFill>
              <a:srgbClr val="9bbb59">
                <a:lumMod val="50000"/>
              </a:srgbClr>
            </a:solidFill>
            <a:round/>
            <a:tailEnd len="med" type="arrow" w="med"/>
          </a:ln>
        </p:spPr>
      </p:cxnSp>
      <p:sp>
        <p:nvSpPr>
          <p:cNvPr id="294" name="TextBox 67"/>
          <p:cNvSpPr/>
          <p:nvPr/>
        </p:nvSpPr>
        <p:spPr>
          <a:xfrm>
            <a:off x="249120" y="1750320"/>
            <a:ext cx="71388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Step 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5" name="Straight Arrow Connector 68"/>
          <p:cNvCxnSpPr>
            <a:stCxn id="296" idx="1"/>
          </p:cNvCxnSpPr>
          <p:nvPr/>
        </p:nvCxnSpPr>
        <p:spPr>
          <a:xfrm flipH="1">
            <a:off x="5181840" y="2650320"/>
            <a:ext cx="1269360" cy="350280"/>
          </a:xfrm>
          <a:prstGeom prst="straightConnector1">
            <a:avLst/>
          </a:prstGeom>
          <a:ln>
            <a:solidFill>
              <a:srgbClr val="9bbb59">
                <a:lumMod val="50000"/>
              </a:srgbClr>
            </a:solidFill>
            <a:round/>
            <a:tailEnd len="med" type="arrow" w="med"/>
          </a:ln>
        </p:spPr>
      </p:cxnSp>
      <p:sp>
        <p:nvSpPr>
          <p:cNvPr id="296" name="TextBox 69"/>
          <p:cNvSpPr/>
          <p:nvPr/>
        </p:nvSpPr>
        <p:spPr>
          <a:xfrm>
            <a:off x="6450840" y="2419560"/>
            <a:ext cx="15372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Step6, check anomaly for this read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7" name="Straight Connector 70"/>
          <p:cNvCxnSpPr/>
          <p:nvPr/>
        </p:nvCxnSpPr>
        <p:spPr>
          <a:xfrm>
            <a:off x="2264760" y="123876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sp>
        <p:nvSpPr>
          <p:cNvPr id="298" name="Rounded Rectangle 71"/>
          <p:cNvSpPr/>
          <p:nvPr/>
        </p:nvSpPr>
        <p:spPr>
          <a:xfrm>
            <a:off x="1328760" y="1321560"/>
            <a:ext cx="657360" cy="26856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4f81bd"/>
            </a:solidFill>
            <a:round/>
            <a:headEnd len="med" type="arrow" w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Vista Sans OT Reg"/>
                <a:ea typeface="ヒラギノ角ゴ ProN W3"/>
              </a:rPr>
              <a:t>W(0)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9" name="Straight Connector 72"/>
          <p:cNvCxnSpPr/>
          <p:nvPr/>
        </p:nvCxnSpPr>
        <p:spPr>
          <a:xfrm>
            <a:off x="1022760" y="1438560"/>
            <a:ext cx="1211400" cy="360"/>
          </a:xfrm>
          <a:prstGeom prst="straightConnector1">
            <a:avLst/>
          </a:prstGeom>
          <a:ln w="25400">
            <a:solidFill>
              <a:srgbClr val="000000"/>
            </a:solidFill>
            <a:prstDash val="sysDash"/>
            <a:round/>
          </a:ln>
        </p:spPr>
      </p:cxnSp>
      <p:sp>
        <p:nvSpPr>
          <p:cNvPr id="300" name="Rounded Rectangular Callout 74"/>
          <p:cNvSpPr/>
          <p:nvPr/>
        </p:nvSpPr>
        <p:spPr>
          <a:xfrm>
            <a:off x="5477040" y="5448960"/>
            <a:ext cx="2741040" cy="1089360"/>
          </a:xfrm>
          <a:prstGeom prst="wedgeRoundRectCallout">
            <a:avLst>
              <a:gd name="adj1" fmla="val -115963"/>
              <a:gd name="adj2" fmla="val -23729"/>
              <a:gd name="adj3" fmla="val 16667"/>
            </a:avLst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ff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 cycle! Anomaly found. *it wouldn’t form a cycle if we didn’t adjust w0’s resp_time*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7626E27-44B6-4C5E-ADFC-D9724F0A194F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18" dur="indefinite" restart="never" nodeType="tmRoot">
          <p:childTnLst>
            <p:seq>
              <p:cTn id="319" dur="indefinite" nodeType="mainSeq">
                <p:childTnLst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24" dur="5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5" dur="5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6" presetID="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28"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9"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0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32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3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35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indefinite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40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1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2" presetID="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44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5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6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48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9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51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2" fill="hold">
                      <p:stCondLst>
                        <p:cond delay="indefinite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56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7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59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0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62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indefinite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9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366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9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369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9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372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4" fill="hold">
                      <p:stCondLst>
                        <p:cond delay="indefinite"/>
                      </p:stCondLst>
                      <p:childTnLst>
                        <p:par>
                          <p:cTn id="375" fill="hold">
                            <p:stCondLst>
                              <p:cond delay="0"/>
                            </p:stCondLst>
                            <p:childTnLst>
                              <p:par>
                                <p:cTn id="376" presetID="3" presetClass="exit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blinds(horizontal)" transition="out">
                                      <p:cBhvr additive="repl">
                                        <p:cTn id="377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3" presetClass="exit" fill="hold" nodeType="withEffect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blinds(horizontal)" transition="out">
                                      <p:cBhvr additive="repl">
                                        <p:cTn id="380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2" presetID="3" presetClass="exit" fill="hold" nodeType="withEffect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blinds(horizontal)" transition="out">
                                      <p:cBhvr additive="repl">
                                        <p:cTn id="383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5" fill="hold">
                      <p:stCondLst>
                        <p:cond delay="indefinite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89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0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92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3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95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6" fill="hold">
                      <p:stCondLst>
                        <p:cond delay="indefinite"/>
                      </p:stCondLst>
                      <p:childTnLst>
                        <p:par>
                          <p:cTn id="397" fill="hold">
                            <p:stCondLst>
                              <p:cond delay="0"/>
                            </p:stCondLst>
                            <p:childTnLst>
                              <p:par>
                                <p:cTn id="398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00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1" fill="hold">
                      <p:stCondLst>
                        <p:cond delay="indefinite"/>
                      </p:stCondLst>
                      <p:childTnLst>
                        <p:par>
                          <p:cTn id="402" fill="hold">
                            <p:stCondLst>
                              <p:cond delay="0"/>
                            </p:stCondLst>
                            <p:childTnLst>
                              <p:par>
                                <p:cTn id="403" presetID="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05" dur="5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6" dur="5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7" presetID="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09" dur="5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10" dur="5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1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13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4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16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7" fill="hold">
                      <p:stCondLst>
                        <p:cond delay="indefinite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21" dur="5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22" dur="5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>
                      <p:stCondLst>
                        <p:cond delay="indefinite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6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427" dur="20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8" fill="hold">
                      <p:stCondLst>
                        <p:cond delay="indefinite"/>
                      </p:stCondLst>
                      <p:childTnLst>
                        <p:par>
                          <p:cTn id="429" fill="hold">
                            <p:stCondLst>
                              <p:cond delay="0"/>
                            </p:stCondLst>
                            <p:childTnLst>
                              <p:par>
                                <p:cTn id="430" presetID="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32" dur="5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33" dur="5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4" presetID="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36" dur="50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37" dur="50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8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40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1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43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4" fill="hold">
                      <p:stCondLst>
                        <p:cond delay="indefinite"/>
                      </p:stCondLst>
                      <p:childTnLst>
                        <p:par>
                          <p:cTn id="445" fill="hold">
                            <p:stCondLst>
                              <p:cond delay="0"/>
                            </p:stCondLst>
                            <p:childTnLst>
                              <p:par>
                                <p:cTn id="446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48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9" fill="hold">
                      <p:stCondLst>
                        <p:cond delay="indefinite"/>
                      </p:stCondLst>
                      <p:childTnLst>
                        <p:par>
                          <p:cTn id="450" fill="hold">
                            <p:stCondLst>
                              <p:cond delay="0"/>
                            </p:stCondLst>
                            <p:childTnLst>
                              <p:par>
                                <p:cTn id="451" presetID="2" presetClass="entr" fill="hold" nodeType="clickEffect" presetSubtype="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53" dur="5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54" dur="5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5" presetID="2" presetClass="entr" fill="hold" nodeType="withEffect" presetSubtype="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57" dur="50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58" dur="50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>
                      <p:stCondLst>
                        <p:cond delay="indefinite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9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462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4" fill="hold">
                      <p:stCondLst>
                        <p:cond delay="indefinite"/>
                      </p:stCondLst>
                      <p:childTnLst>
                        <p:par>
                          <p:cTn id="465" fill="hold">
                            <p:stCondLst>
                              <p:cond delay="0"/>
                            </p:stCondLst>
                            <p:childTnLst>
                              <p:par>
                                <p:cTn id="466" presetID="5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468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9" fill="hold">
                      <p:stCondLst>
                        <p:cond delay="indefinite"/>
                      </p:stCondLst>
                      <p:childTnLst>
                        <p:par>
                          <p:cTn id="470" fill="hold">
                            <p:stCondLst>
                              <p:cond delay="0"/>
                            </p:stCondLst>
                            <p:childTnLst>
                              <p:par>
                                <p:cTn id="471" presetID="9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472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4" presetID="9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475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7" fill="hold">
                      <p:stCondLst>
                        <p:cond delay="indefinite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6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481" dur="20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/>
          </p:nvPr>
        </p:nvSpPr>
        <p:spPr>
          <a:xfrm>
            <a:off x="457200" y="199800"/>
            <a:ext cx="8229240" cy="613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2" name="TextBox 9"/>
          <p:cNvSpPr/>
          <p:nvPr/>
        </p:nvSpPr>
        <p:spPr>
          <a:xfrm>
            <a:off x="9525960" y="34610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3" name="Rounded Rectangle 10"/>
          <p:cNvSpPr/>
          <p:nvPr/>
        </p:nvSpPr>
        <p:spPr>
          <a:xfrm>
            <a:off x="0" y="0"/>
            <a:ext cx="9143640" cy="6857640"/>
          </a:xfrm>
          <a:prstGeom prst="roundRect">
            <a:avLst>
              <a:gd name="adj" fmla="val 16667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4bacc6">
                <a:lumMod val="20000"/>
                <a:lumOff val="80000"/>
              </a:srgbClr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304" name="Straight Arrow Connector 12"/>
          <p:cNvCxnSpPr/>
          <p:nvPr/>
        </p:nvCxnSpPr>
        <p:spPr>
          <a:xfrm flipV="1">
            <a:off x="509040" y="5752440"/>
            <a:ext cx="8063640" cy="2880"/>
          </a:xfrm>
          <a:prstGeom prst="straightConnector1">
            <a:avLst/>
          </a:prstGeom>
          <a:ln>
            <a:solidFill>
              <a:srgbClr val="000000"/>
            </a:solidFill>
            <a:round/>
            <a:tailEnd len="med" type="arrow" w="med"/>
          </a:ln>
        </p:spPr>
      </p:cxnSp>
      <p:sp>
        <p:nvSpPr>
          <p:cNvPr id="305" name="TextBox 13"/>
          <p:cNvSpPr/>
          <p:nvPr/>
        </p:nvSpPr>
        <p:spPr>
          <a:xfrm>
            <a:off x="3851640" y="5967360"/>
            <a:ext cx="16174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real time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6" name="Straight Connector 14"/>
          <p:cNvCxnSpPr/>
          <p:nvPr/>
        </p:nvCxnSpPr>
        <p:spPr>
          <a:xfrm>
            <a:off x="737280" y="962280"/>
            <a:ext cx="1088640" cy="360"/>
          </a:xfrm>
          <a:prstGeom prst="straightConnector1">
            <a:avLst/>
          </a:prstGeom>
          <a:ln w="25400">
            <a:solidFill>
              <a:srgbClr val="000000"/>
            </a:solidFill>
            <a:prstDash val="sysDash"/>
            <a:round/>
          </a:ln>
        </p:spPr>
      </p:cxnSp>
      <p:cxnSp>
        <p:nvCxnSpPr>
          <p:cNvPr id="307" name="Straight Connector 15"/>
          <p:cNvCxnSpPr/>
          <p:nvPr/>
        </p:nvCxnSpPr>
        <p:spPr>
          <a:xfrm>
            <a:off x="737280" y="74196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cxnSp>
        <p:nvCxnSpPr>
          <p:cNvPr id="308" name="Straight Connector 16"/>
          <p:cNvCxnSpPr/>
          <p:nvPr/>
        </p:nvCxnSpPr>
        <p:spPr>
          <a:xfrm>
            <a:off x="1825560" y="76248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sp>
        <p:nvSpPr>
          <p:cNvPr id="309" name="Rounded Rectangle 17"/>
          <p:cNvSpPr/>
          <p:nvPr/>
        </p:nvSpPr>
        <p:spPr>
          <a:xfrm>
            <a:off x="913680" y="845280"/>
            <a:ext cx="657360" cy="26856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4f81bd"/>
            </a:solidFill>
            <a:round/>
            <a:headEnd len="med" type="arrow" w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Vista Sans OT Reg"/>
                <a:ea typeface="ヒラギノ角ゴ ProN W3"/>
              </a:rPr>
              <a:t>W(0)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Box 86"/>
          <p:cNvSpPr/>
          <p:nvPr/>
        </p:nvSpPr>
        <p:spPr>
          <a:xfrm>
            <a:off x="2641320" y="155880"/>
            <a:ext cx="317376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Algorithm Workflow (a complicate case)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1" name="Straight Connector 50"/>
          <p:cNvCxnSpPr/>
          <p:nvPr/>
        </p:nvCxnSpPr>
        <p:spPr>
          <a:xfrm>
            <a:off x="1964880" y="1552320"/>
            <a:ext cx="966960" cy="360"/>
          </a:xfrm>
          <a:prstGeom prst="straightConnector1">
            <a:avLst/>
          </a:prstGeom>
          <a:ln w="25400">
            <a:solidFill>
              <a:srgbClr val="000000"/>
            </a:solidFill>
            <a:prstDash val="sysDash"/>
            <a:round/>
          </a:ln>
        </p:spPr>
      </p:cxnSp>
      <p:cxnSp>
        <p:nvCxnSpPr>
          <p:cNvPr id="312" name="Straight Connector 52"/>
          <p:cNvCxnSpPr/>
          <p:nvPr/>
        </p:nvCxnSpPr>
        <p:spPr>
          <a:xfrm>
            <a:off x="1964880" y="133164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cxnSp>
        <p:nvCxnSpPr>
          <p:cNvPr id="313" name="Straight Connector 55"/>
          <p:cNvCxnSpPr/>
          <p:nvPr/>
        </p:nvCxnSpPr>
        <p:spPr>
          <a:xfrm>
            <a:off x="2931480" y="133164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sp>
        <p:nvSpPr>
          <p:cNvPr id="314" name="Rounded Rectangle 56"/>
          <p:cNvSpPr/>
          <p:nvPr/>
        </p:nvSpPr>
        <p:spPr>
          <a:xfrm>
            <a:off x="2174760" y="1434960"/>
            <a:ext cx="605160" cy="26856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4f81bd"/>
            </a:solidFill>
            <a:round/>
            <a:headEnd len="med" type="arrow" w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Vista Sans OT Reg"/>
                <a:ea typeface="ヒラギノ角ゴ ProN W3"/>
              </a:rPr>
              <a:t>r(1)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5" name="Straight Connector 57"/>
          <p:cNvCxnSpPr/>
          <p:nvPr/>
        </p:nvCxnSpPr>
        <p:spPr>
          <a:xfrm>
            <a:off x="2128320" y="2000880"/>
            <a:ext cx="5983560" cy="360"/>
          </a:xfrm>
          <a:prstGeom prst="straightConnector1">
            <a:avLst/>
          </a:prstGeom>
          <a:ln w="25400">
            <a:solidFill>
              <a:srgbClr val="000000"/>
            </a:solidFill>
            <a:prstDash val="sysDash"/>
            <a:round/>
          </a:ln>
        </p:spPr>
      </p:cxnSp>
      <p:cxnSp>
        <p:nvCxnSpPr>
          <p:cNvPr id="316" name="Straight Connector 58"/>
          <p:cNvCxnSpPr/>
          <p:nvPr/>
        </p:nvCxnSpPr>
        <p:spPr>
          <a:xfrm>
            <a:off x="2128320" y="178020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cxnSp>
        <p:nvCxnSpPr>
          <p:cNvPr id="317" name="Straight Connector 59"/>
          <p:cNvCxnSpPr/>
          <p:nvPr/>
        </p:nvCxnSpPr>
        <p:spPr>
          <a:xfrm>
            <a:off x="8111520" y="178020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sp>
        <p:nvSpPr>
          <p:cNvPr id="318" name="Rounded Rectangle 60"/>
          <p:cNvSpPr/>
          <p:nvPr/>
        </p:nvSpPr>
        <p:spPr>
          <a:xfrm>
            <a:off x="3799080" y="1883880"/>
            <a:ext cx="1328400" cy="26856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4f81bd"/>
            </a:solidFill>
            <a:round/>
            <a:headEnd len="med" type="arrow" w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Vista Sans OT Reg"/>
                <a:ea typeface="ヒラギノ角ゴ ProN W3"/>
              </a:rPr>
              <a:t>w(1)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9" name="Straight Connector 61"/>
          <p:cNvCxnSpPr/>
          <p:nvPr/>
        </p:nvCxnSpPr>
        <p:spPr>
          <a:xfrm>
            <a:off x="3076200" y="2495520"/>
            <a:ext cx="2653560" cy="17640"/>
          </a:xfrm>
          <a:prstGeom prst="straightConnector1">
            <a:avLst/>
          </a:prstGeom>
          <a:ln w="25400">
            <a:solidFill>
              <a:srgbClr val="000000"/>
            </a:solidFill>
            <a:prstDash val="sysDash"/>
            <a:round/>
          </a:ln>
        </p:spPr>
      </p:cxnSp>
      <p:cxnSp>
        <p:nvCxnSpPr>
          <p:cNvPr id="320" name="Straight Connector 62"/>
          <p:cNvCxnSpPr/>
          <p:nvPr/>
        </p:nvCxnSpPr>
        <p:spPr>
          <a:xfrm>
            <a:off x="3076200" y="227484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cxnSp>
        <p:nvCxnSpPr>
          <p:cNvPr id="321" name="Straight Connector 63"/>
          <p:cNvCxnSpPr/>
          <p:nvPr/>
        </p:nvCxnSpPr>
        <p:spPr>
          <a:xfrm>
            <a:off x="5729400" y="227484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sp>
        <p:nvSpPr>
          <p:cNvPr id="322" name="Rounded Rectangle 64"/>
          <p:cNvSpPr/>
          <p:nvPr/>
        </p:nvSpPr>
        <p:spPr>
          <a:xfrm>
            <a:off x="4015080" y="2361240"/>
            <a:ext cx="605160" cy="26856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4f81bd"/>
            </a:solidFill>
            <a:round/>
            <a:headEnd len="med" type="arrow" w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Vista Sans OT Reg"/>
                <a:ea typeface="ヒラギノ角ゴ ProN W3"/>
              </a:rPr>
              <a:t>W(2)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3" name="Straight Connector 65"/>
          <p:cNvCxnSpPr/>
          <p:nvPr/>
        </p:nvCxnSpPr>
        <p:spPr>
          <a:xfrm>
            <a:off x="3199320" y="2896200"/>
            <a:ext cx="2739960" cy="17640"/>
          </a:xfrm>
          <a:prstGeom prst="straightConnector1">
            <a:avLst/>
          </a:prstGeom>
          <a:ln w="25400">
            <a:solidFill>
              <a:srgbClr val="000000"/>
            </a:solidFill>
            <a:prstDash val="sysDash"/>
            <a:round/>
          </a:ln>
        </p:spPr>
      </p:cxnSp>
      <p:cxnSp>
        <p:nvCxnSpPr>
          <p:cNvPr id="324" name="Straight Connector 66"/>
          <p:cNvCxnSpPr/>
          <p:nvPr/>
        </p:nvCxnSpPr>
        <p:spPr>
          <a:xfrm>
            <a:off x="3199320" y="267588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cxnSp>
        <p:nvCxnSpPr>
          <p:cNvPr id="325" name="Straight Connector 67"/>
          <p:cNvCxnSpPr/>
          <p:nvPr/>
        </p:nvCxnSpPr>
        <p:spPr>
          <a:xfrm>
            <a:off x="5938920" y="267588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sp>
        <p:nvSpPr>
          <p:cNvPr id="326" name="Rounded Rectangle 68"/>
          <p:cNvSpPr/>
          <p:nvPr/>
        </p:nvSpPr>
        <p:spPr>
          <a:xfrm>
            <a:off x="4154400" y="2779200"/>
            <a:ext cx="605160" cy="26856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4f81bd"/>
            </a:solidFill>
            <a:round/>
            <a:headEnd len="med" type="arrow" w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Vista Sans OT Reg"/>
                <a:ea typeface="ヒラギノ角ゴ ProN W3"/>
              </a:rPr>
              <a:t>W(3)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7" name="Straight Connector 69"/>
          <p:cNvCxnSpPr/>
          <p:nvPr/>
        </p:nvCxnSpPr>
        <p:spPr>
          <a:xfrm>
            <a:off x="6262920" y="5181840"/>
            <a:ext cx="940320" cy="17280"/>
          </a:xfrm>
          <a:prstGeom prst="straightConnector1">
            <a:avLst/>
          </a:prstGeom>
          <a:ln w="25400">
            <a:solidFill>
              <a:srgbClr val="000000"/>
            </a:solidFill>
            <a:prstDash val="sysDash"/>
            <a:round/>
          </a:ln>
        </p:spPr>
      </p:cxnSp>
      <p:cxnSp>
        <p:nvCxnSpPr>
          <p:cNvPr id="328" name="Straight Connector 70"/>
          <p:cNvCxnSpPr/>
          <p:nvPr/>
        </p:nvCxnSpPr>
        <p:spPr>
          <a:xfrm>
            <a:off x="6262920" y="496116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cxnSp>
        <p:nvCxnSpPr>
          <p:cNvPr id="329" name="Straight Connector 71"/>
          <p:cNvCxnSpPr/>
          <p:nvPr/>
        </p:nvCxnSpPr>
        <p:spPr>
          <a:xfrm>
            <a:off x="7202880" y="496116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sp>
        <p:nvSpPr>
          <p:cNvPr id="330" name="Rounded Rectangle 72"/>
          <p:cNvSpPr/>
          <p:nvPr/>
        </p:nvSpPr>
        <p:spPr>
          <a:xfrm>
            <a:off x="6473160" y="5064480"/>
            <a:ext cx="605160" cy="26856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4f81bd"/>
            </a:solidFill>
            <a:round/>
            <a:headEnd len="med" type="arrow" w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Vista Sans OT Reg"/>
                <a:ea typeface="ヒラギノ角ゴ ProN W3"/>
              </a:rPr>
              <a:t>r(1)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31" name="Straight Connector 73"/>
          <p:cNvCxnSpPr/>
          <p:nvPr/>
        </p:nvCxnSpPr>
        <p:spPr>
          <a:xfrm>
            <a:off x="3448800" y="3448440"/>
            <a:ext cx="940320" cy="17640"/>
          </a:xfrm>
          <a:prstGeom prst="straightConnector1">
            <a:avLst/>
          </a:prstGeom>
          <a:ln w="25400">
            <a:solidFill>
              <a:srgbClr val="000000"/>
            </a:solidFill>
            <a:prstDash val="sysDash"/>
            <a:round/>
          </a:ln>
        </p:spPr>
      </p:cxnSp>
      <p:cxnSp>
        <p:nvCxnSpPr>
          <p:cNvPr id="332" name="Straight Connector 74"/>
          <p:cNvCxnSpPr/>
          <p:nvPr/>
        </p:nvCxnSpPr>
        <p:spPr>
          <a:xfrm>
            <a:off x="3448800" y="322776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cxnSp>
        <p:nvCxnSpPr>
          <p:cNvPr id="333" name="Straight Connector 75"/>
          <p:cNvCxnSpPr/>
          <p:nvPr/>
        </p:nvCxnSpPr>
        <p:spPr>
          <a:xfrm>
            <a:off x="4388760" y="322776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sp>
        <p:nvSpPr>
          <p:cNvPr id="334" name="Rounded Rectangle 76"/>
          <p:cNvSpPr/>
          <p:nvPr/>
        </p:nvSpPr>
        <p:spPr>
          <a:xfrm>
            <a:off x="3658680" y="3331440"/>
            <a:ext cx="605160" cy="26856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4f81bd"/>
            </a:solidFill>
            <a:round/>
            <a:headEnd len="med" type="arrow" w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Vista Sans OT Reg"/>
                <a:ea typeface="ヒラギノ角ゴ ProN W3"/>
              </a:rPr>
              <a:t>r(2)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35" name="Straight Connector 77"/>
          <p:cNvCxnSpPr/>
          <p:nvPr/>
        </p:nvCxnSpPr>
        <p:spPr>
          <a:xfrm>
            <a:off x="3641400" y="3912120"/>
            <a:ext cx="940320" cy="17640"/>
          </a:xfrm>
          <a:prstGeom prst="straightConnector1">
            <a:avLst/>
          </a:prstGeom>
          <a:ln w="25400">
            <a:solidFill>
              <a:srgbClr val="000000"/>
            </a:solidFill>
            <a:prstDash val="sysDash"/>
            <a:round/>
          </a:ln>
        </p:spPr>
      </p:cxnSp>
      <p:cxnSp>
        <p:nvCxnSpPr>
          <p:cNvPr id="336" name="Straight Connector 78"/>
          <p:cNvCxnSpPr/>
          <p:nvPr/>
        </p:nvCxnSpPr>
        <p:spPr>
          <a:xfrm>
            <a:off x="3641400" y="369144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cxnSp>
        <p:nvCxnSpPr>
          <p:cNvPr id="337" name="Straight Connector 79"/>
          <p:cNvCxnSpPr/>
          <p:nvPr/>
        </p:nvCxnSpPr>
        <p:spPr>
          <a:xfrm>
            <a:off x="4581360" y="369144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sp>
        <p:nvSpPr>
          <p:cNvPr id="338" name="Rounded Rectangle 80"/>
          <p:cNvSpPr/>
          <p:nvPr/>
        </p:nvSpPr>
        <p:spPr>
          <a:xfrm>
            <a:off x="3851640" y="3795120"/>
            <a:ext cx="605160" cy="26856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4f81bd"/>
            </a:solidFill>
            <a:round/>
            <a:headEnd len="med" type="arrow" w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Vista Sans OT Reg"/>
                <a:ea typeface="ヒラギノ角ゴ ProN W3"/>
              </a:rPr>
              <a:t>r(3)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39" name="Straight Connector 81"/>
          <p:cNvCxnSpPr/>
          <p:nvPr/>
        </p:nvCxnSpPr>
        <p:spPr>
          <a:xfrm>
            <a:off x="4790160" y="4352040"/>
            <a:ext cx="940320" cy="17640"/>
          </a:xfrm>
          <a:prstGeom prst="straightConnector1">
            <a:avLst/>
          </a:prstGeom>
          <a:ln w="25400">
            <a:solidFill>
              <a:srgbClr val="000000"/>
            </a:solidFill>
            <a:prstDash val="sysDash"/>
            <a:round/>
          </a:ln>
        </p:spPr>
      </p:cxnSp>
      <p:cxnSp>
        <p:nvCxnSpPr>
          <p:cNvPr id="340" name="Straight Connector 82"/>
          <p:cNvCxnSpPr/>
          <p:nvPr/>
        </p:nvCxnSpPr>
        <p:spPr>
          <a:xfrm>
            <a:off x="4790160" y="413172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cxnSp>
        <p:nvCxnSpPr>
          <p:cNvPr id="341" name="Straight Connector 83"/>
          <p:cNvCxnSpPr/>
          <p:nvPr/>
        </p:nvCxnSpPr>
        <p:spPr>
          <a:xfrm>
            <a:off x="5730120" y="4131720"/>
            <a:ext cx="360" cy="39996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sp>
        <p:nvSpPr>
          <p:cNvPr id="342" name="Rounded Rectangle 84"/>
          <p:cNvSpPr/>
          <p:nvPr/>
        </p:nvSpPr>
        <p:spPr>
          <a:xfrm>
            <a:off x="5000400" y="4235040"/>
            <a:ext cx="605160" cy="26856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4f81bd"/>
            </a:solidFill>
            <a:round/>
            <a:headEnd len="med" type="arrow" w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Vista Sans OT Reg"/>
                <a:ea typeface="ヒラギノ角ゴ ProN W3"/>
              </a:rPr>
              <a:t>r(3)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43" name="Straight Connector 85"/>
          <p:cNvCxnSpPr/>
          <p:nvPr/>
        </p:nvCxnSpPr>
        <p:spPr>
          <a:xfrm>
            <a:off x="5092920" y="4793400"/>
            <a:ext cx="940320" cy="17640"/>
          </a:xfrm>
          <a:prstGeom prst="straightConnector1">
            <a:avLst/>
          </a:prstGeom>
          <a:ln w="25400">
            <a:solidFill>
              <a:srgbClr val="000000"/>
            </a:solidFill>
            <a:prstDash val="sysDash"/>
            <a:round/>
          </a:ln>
        </p:spPr>
      </p:cxnSp>
      <p:cxnSp>
        <p:nvCxnSpPr>
          <p:cNvPr id="344" name="Straight Connector 89"/>
          <p:cNvCxnSpPr/>
          <p:nvPr/>
        </p:nvCxnSpPr>
        <p:spPr>
          <a:xfrm>
            <a:off x="5092920" y="4573080"/>
            <a:ext cx="360" cy="39960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cxnSp>
        <p:nvCxnSpPr>
          <p:cNvPr id="345" name="Straight Connector 90"/>
          <p:cNvCxnSpPr/>
          <p:nvPr/>
        </p:nvCxnSpPr>
        <p:spPr>
          <a:xfrm>
            <a:off x="6032880" y="4573080"/>
            <a:ext cx="360" cy="399600"/>
          </a:xfrm>
          <a:prstGeom prst="straightConnector1">
            <a:avLst/>
          </a:prstGeom>
          <a:ln w="25400">
            <a:solidFill>
              <a:srgbClr val="000000"/>
            </a:solidFill>
            <a:round/>
          </a:ln>
        </p:spPr>
      </p:cxnSp>
      <p:sp>
        <p:nvSpPr>
          <p:cNvPr id="346" name="Rounded Rectangle 91"/>
          <p:cNvSpPr/>
          <p:nvPr/>
        </p:nvSpPr>
        <p:spPr>
          <a:xfrm>
            <a:off x="5303160" y="4676400"/>
            <a:ext cx="605160" cy="26856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4f81bd"/>
            </a:solidFill>
            <a:round/>
            <a:headEnd len="med" type="arrow" w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Vista Sans OT Reg"/>
                <a:ea typeface="ヒラギノ角ゴ ProN W3"/>
              </a:rPr>
              <a:t>r(2)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0158B30-6B67-4037-8FE1-AE79D612ED1C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Rounded Rectangle 47"/>
          <p:cNvSpPr/>
          <p:nvPr/>
        </p:nvSpPr>
        <p:spPr>
          <a:xfrm>
            <a:off x="0" y="0"/>
            <a:ext cx="9143640" cy="6857640"/>
          </a:xfrm>
          <a:prstGeom prst="roundRect">
            <a:avLst>
              <a:gd name="adj" fmla="val 16667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4bacc6">
                <a:lumMod val="20000"/>
                <a:lumOff val="80000"/>
              </a:srgbClr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8" name="TextBox 48"/>
          <p:cNvSpPr/>
          <p:nvPr/>
        </p:nvSpPr>
        <p:spPr>
          <a:xfrm>
            <a:off x="2641320" y="155880"/>
            <a:ext cx="31737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Algorithm Workflow (graph)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Oval 49"/>
          <p:cNvSpPr/>
          <p:nvPr/>
        </p:nvSpPr>
        <p:spPr>
          <a:xfrm>
            <a:off x="514800" y="1836360"/>
            <a:ext cx="725400" cy="7606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0" name="TextBox 51"/>
          <p:cNvSpPr/>
          <p:nvPr/>
        </p:nvSpPr>
        <p:spPr>
          <a:xfrm>
            <a:off x="604440" y="2068200"/>
            <a:ext cx="5461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W(0)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Oval 53"/>
          <p:cNvSpPr/>
          <p:nvPr/>
        </p:nvSpPr>
        <p:spPr>
          <a:xfrm>
            <a:off x="1919160" y="1836360"/>
            <a:ext cx="725400" cy="760680"/>
          </a:xfrm>
          <a:prstGeom prst="ellipse">
            <a:avLst/>
          </a:prstGeom>
          <a:solidFill>
            <a:srgbClr val="00800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2" name="TextBox 54"/>
          <p:cNvSpPr/>
          <p:nvPr/>
        </p:nvSpPr>
        <p:spPr>
          <a:xfrm>
            <a:off x="2008800" y="2068200"/>
            <a:ext cx="5461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r(1)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53" name="Straight Arrow Connector 87"/>
          <p:cNvCxnSpPr>
            <a:stCxn id="349" idx="6"/>
            <a:endCxn id="351" idx="2"/>
          </p:cNvCxnSpPr>
          <p:nvPr/>
        </p:nvCxnSpPr>
        <p:spPr>
          <a:xfrm>
            <a:off x="1240200" y="2216880"/>
            <a:ext cx="679320" cy="360"/>
          </a:xfrm>
          <a:prstGeom prst="straightConnector1">
            <a:avLst/>
          </a:prstGeom>
          <a:ln>
            <a:solidFill>
              <a:srgbClr val="4f81bd"/>
            </a:solidFill>
            <a:round/>
            <a:tailEnd len="med" type="arrow" w="med"/>
          </a:ln>
        </p:spPr>
      </p:cxnSp>
      <p:sp>
        <p:nvSpPr>
          <p:cNvPr id="354" name="Oval 88"/>
          <p:cNvSpPr/>
          <p:nvPr/>
        </p:nvSpPr>
        <p:spPr>
          <a:xfrm>
            <a:off x="1645920" y="3418560"/>
            <a:ext cx="725400" cy="7606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5" name="TextBox 92"/>
          <p:cNvSpPr/>
          <p:nvPr/>
        </p:nvSpPr>
        <p:spPr>
          <a:xfrm>
            <a:off x="1731240" y="3660480"/>
            <a:ext cx="5461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W(1)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56" name="Straight Arrow Connector 93"/>
          <p:cNvCxnSpPr>
            <a:stCxn id="349" idx="6"/>
            <a:endCxn id="354" idx="2"/>
          </p:cNvCxnSpPr>
          <p:nvPr/>
        </p:nvCxnSpPr>
        <p:spPr>
          <a:xfrm>
            <a:off x="1240200" y="2216880"/>
            <a:ext cx="406080" cy="1582560"/>
          </a:xfrm>
          <a:prstGeom prst="straightConnector1">
            <a:avLst/>
          </a:prstGeom>
          <a:ln>
            <a:solidFill>
              <a:srgbClr val="4f81bd"/>
            </a:solidFill>
            <a:round/>
            <a:tailEnd len="med" type="arrow" w="med"/>
          </a:ln>
        </p:spPr>
      </p:cxnSp>
      <p:sp>
        <p:nvSpPr>
          <p:cNvPr id="357" name="Freeform 8"/>
          <p:cNvSpPr/>
          <p:nvPr/>
        </p:nvSpPr>
        <p:spPr>
          <a:xfrm>
            <a:off x="1222200" y="2238480"/>
            <a:ext cx="423000" cy="1421640"/>
          </a:xfrm>
          <a:custGeom>
            <a:avLst/>
            <a:gdLst>
              <a:gd name="textAreaLeft" fmla="*/ 0 w 423000"/>
              <a:gd name="textAreaRight" fmla="*/ 423360 w 423000"/>
              <a:gd name="textAreaTop" fmla="*/ 0 h 1421640"/>
              <a:gd name="textAreaBottom" fmla="*/ 1422000 h 1421640"/>
              <a:gd name="GluePoint1X" fmla="*/ 0 w 782008"/>
              <a:gd name="GluePoint1Y" fmla="*/ 0 h 1174750"/>
              <a:gd name="GluePoint2X" fmla="*/ 682625 w 782008"/>
              <a:gd name="GluePoint2Y" fmla="*/ 508000 h 1174750"/>
              <a:gd name="GluePoint3X" fmla="*/ 777875 w 782008"/>
              <a:gd name="GluePoint3Y" fmla="*/ 1174750 h 11747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782008" h="1174750">
                <a:moveTo>
                  <a:pt x="0" y="0"/>
                </a:moveTo>
                <a:cubicBezTo>
                  <a:pt x="276489" y="156104"/>
                  <a:pt x="552979" y="312208"/>
                  <a:pt x="682625" y="508000"/>
                </a:cubicBezTo>
                <a:cubicBezTo>
                  <a:pt x="812271" y="703792"/>
                  <a:pt x="777875" y="1174750"/>
                  <a:pt x="777875" y="1174750"/>
                </a:cubicBezTo>
              </a:path>
            </a:pathLst>
          </a:custGeom>
          <a:noFill/>
          <a:ln w="6350">
            <a:solidFill>
              <a:srgbClr val="008000"/>
            </a:solidFill>
            <a:round/>
            <a:tailEnd len="med" type="arrow" w="med"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8" name="Oval 94"/>
          <p:cNvSpPr/>
          <p:nvPr/>
        </p:nvSpPr>
        <p:spPr>
          <a:xfrm>
            <a:off x="3717360" y="1964880"/>
            <a:ext cx="725400" cy="7606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9" name="TextBox 95"/>
          <p:cNvSpPr/>
          <p:nvPr/>
        </p:nvSpPr>
        <p:spPr>
          <a:xfrm>
            <a:off x="3802320" y="2206800"/>
            <a:ext cx="5461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W(2)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Oval 96"/>
          <p:cNvSpPr/>
          <p:nvPr/>
        </p:nvSpPr>
        <p:spPr>
          <a:xfrm>
            <a:off x="3717360" y="3418560"/>
            <a:ext cx="725400" cy="7606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1" name="TextBox 97"/>
          <p:cNvSpPr/>
          <p:nvPr/>
        </p:nvSpPr>
        <p:spPr>
          <a:xfrm>
            <a:off x="3802320" y="3660480"/>
            <a:ext cx="5461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W(3)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62" name="Straight Arrow Connector 98"/>
          <p:cNvCxnSpPr>
            <a:endCxn id="358" idx="2"/>
          </p:cNvCxnSpPr>
          <p:nvPr/>
        </p:nvCxnSpPr>
        <p:spPr>
          <a:xfrm flipV="1">
            <a:off x="2371320" y="2345400"/>
            <a:ext cx="1346400" cy="1453680"/>
          </a:xfrm>
          <a:prstGeom prst="straightConnector1">
            <a:avLst/>
          </a:prstGeom>
          <a:ln>
            <a:solidFill>
              <a:srgbClr val="4f81bd"/>
            </a:solidFill>
            <a:round/>
            <a:tailEnd len="med" type="arrow" w="med"/>
          </a:ln>
        </p:spPr>
      </p:cxnSp>
      <p:cxnSp>
        <p:nvCxnSpPr>
          <p:cNvPr id="363" name="Straight Arrow Connector 99"/>
          <p:cNvCxnSpPr>
            <a:stCxn id="354" idx="6"/>
            <a:endCxn id="360" idx="2"/>
          </p:cNvCxnSpPr>
          <p:nvPr/>
        </p:nvCxnSpPr>
        <p:spPr>
          <a:xfrm>
            <a:off x="2371320" y="3799080"/>
            <a:ext cx="1346400" cy="360"/>
          </a:xfrm>
          <a:prstGeom prst="straightConnector1">
            <a:avLst/>
          </a:prstGeom>
          <a:ln>
            <a:solidFill>
              <a:srgbClr val="4f81bd"/>
            </a:solidFill>
            <a:round/>
            <a:tailEnd len="med" type="arrow" w="med"/>
          </a:ln>
        </p:spPr>
      </p:cxnSp>
      <p:sp>
        <p:nvSpPr>
          <p:cNvPr id="364" name="Oval 100"/>
          <p:cNvSpPr/>
          <p:nvPr/>
        </p:nvSpPr>
        <p:spPr>
          <a:xfrm>
            <a:off x="3712680" y="4592160"/>
            <a:ext cx="725400" cy="760680"/>
          </a:xfrm>
          <a:prstGeom prst="ellipse">
            <a:avLst/>
          </a:prstGeom>
          <a:solidFill>
            <a:srgbClr val="00800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5" name="TextBox 101"/>
          <p:cNvSpPr/>
          <p:nvPr/>
        </p:nvSpPr>
        <p:spPr>
          <a:xfrm>
            <a:off x="3802320" y="4824000"/>
            <a:ext cx="5461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r(2)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Oval 102"/>
          <p:cNvSpPr/>
          <p:nvPr/>
        </p:nvSpPr>
        <p:spPr>
          <a:xfrm>
            <a:off x="3802320" y="5814720"/>
            <a:ext cx="725400" cy="760680"/>
          </a:xfrm>
          <a:prstGeom prst="ellipse">
            <a:avLst/>
          </a:prstGeom>
          <a:solidFill>
            <a:srgbClr val="00800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7" name="TextBox 103"/>
          <p:cNvSpPr/>
          <p:nvPr/>
        </p:nvSpPr>
        <p:spPr>
          <a:xfrm>
            <a:off x="3802320" y="6046560"/>
            <a:ext cx="5461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r(3)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68" name="Straight Arrow Connector 104"/>
          <p:cNvCxnSpPr>
            <a:stCxn id="354" idx="6"/>
            <a:endCxn id="364" idx="2"/>
          </p:cNvCxnSpPr>
          <p:nvPr/>
        </p:nvCxnSpPr>
        <p:spPr>
          <a:xfrm>
            <a:off x="2371320" y="3799080"/>
            <a:ext cx="1341720" cy="1173960"/>
          </a:xfrm>
          <a:prstGeom prst="straightConnector1">
            <a:avLst/>
          </a:prstGeom>
          <a:ln>
            <a:solidFill>
              <a:srgbClr val="4f81bd"/>
            </a:solidFill>
            <a:round/>
            <a:tailEnd len="med" type="arrow" w="med"/>
          </a:ln>
        </p:spPr>
      </p:cxnSp>
      <p:cxnSp>
        <p:nvCxnSpPr>
          <p:cNvPr id="369" name="Straight Arrow Connector 105"/>
          <p:cNvCxnSpPr>
            <a:stCxn id="354" idx="6"/>
            <a:endCxn id="366" idx="2"/>
          </p:cNvCxnSpPr>
          <p:nvPr/>
        </p:nvCxnSpPr>
        <p:spPr>
          <a:xfrm>
            <a:off x="2371320" y="3799080"/>
            <a:ext cx="1431360" cy="2396520"/>
          </a:xfrm>
          <a:prstGeom prst="straightConnector1">
            <a:avLst/>
          </a:prstGeom>
          <a:ln>
            <a:solidFill>
              <a:srgbClr val="4f81bd"/>
            </a:solidFill>
            <a:round/>
            <a:tailEnd len="med" type="arrow" w="med"/>
          </a:ln>
        </p:spPr>
      </p:cxnSp>
      <p:sp>
        <p:nvSpPr>
          <p:cNvPr id="370" name="Oval 106"/>
          <p:cNvSpPr/>
          <p:nvPr/>
        </p:nvSpPr>
        <p:spPr>
          <a:xfrm>
            <a:off x="5214600" y="1964880"/>
            <a:ext cx="725400" cy="760680"/>
          </a:xfrm>
          <a:prstGeom prst="ellipse">
            <a:avLst/>
          </a:prstGeom>
          <a:solidFill>
            <a:srgbClr val="00800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1" name="TextBox 107"/>
          <p:cNvSpPr/>
          <p:nvPr/>
        </p:nvSpPr>
        <p:spPr>
          <a:xfrm>
            <a:off x="5304240" y="2196720"/>
            <a:ext cx="5461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R(3)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Oval 108"/>
          <p:cNvSpPr/>
          <p:nvPr/>
        </p:nvSpPr>
        <p:spPr>
          <a:xfrm>
            <a:off x="5217480" y="3418560"/>
            <a:ext cx="725400" cy="760680"/>
          </a:xfrm>
          <a:prstGeom prst="ellipse">
            <a:avLst/>
          </a:prstGeom>
          <a:solidFill>
            <a:srgbClr val="00800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3" name="TextBox 109"/>
          <p:cNvSpPr/>
          <p:nvPr/>
        </p:nvSpPr>
        <p:spPr>
          <a:xfrm>
            <a:off x="5307120" y="3650400"/>
            <a:ext cx="5461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r(2)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74" name="Straight Arrow Connector 110"/>
          <p:cNvCxnSpPr>
            <a:stCxn id="358" idx="6"/>
            <a:endCxn id="370" idx="2"/>
          </p:cNvCxnSpPr>
          <p:nvPr/>
        </p:nvCxnSpPr>
        <p:spPr>
          <a:xfrm>
            <a:off x="4442760" y="2345400"/>
            <a:ext cx="772200" cy="360"/>
          </a:xfrm>
          <a:prstGeom prst="straightConnector1">
            <a:avLst/>
          </a:prstGeom>
          <a:ln>
            <a:solidFill>
              <a:srgbClr val="4f81bd"/>
            </a:solidFill>
            <a:round/>
            <a:tailEnd len="med" type="arrow" w="med"/>
          </a:ln>
        </p:spPr>
      </p:cxnSp>
      <p:cxnSp>
        <p:nvCxnSpPr>
          <p:cNvPr id="375" name="Straight Arrow Connector 111"/>
          <p:cNvCxnSpPr>
            <a:stCxn id="358" idx="6"/>
          </p:cNvCxnSpPr>
          <p:nvPr/>
        </p:nvCxnSpPr>
        <p:spPr>
          <a:xfrm>
            <a:off x="4442760" y="2345400"/>
            <a:ext cx="772200" cy="1453680"/>
          </a:xfrm>
          <a:prstGeom prst="straightConnector1">
            <a:avLst/>
          </a:prstGeom>
          <a:ln>
            <a:solidFill>
              <a:srgbClr val="4f81bd"/>
            </a:solidFill>
            <a:round/>
            <a:tailEnd len="med" type="arrow" w="med"/>
          </a:ln>
        </p:spPr>
      </p:cxnSp>
      <p:cxnSp>
        <p:nvCxnSpPr>
          <p:cNvPr id="376" name="Straight Arrow Connector 112"/>
          <p:cNvCxnSpPr>
            <a:stCxn id="360" idx="6"/>
            <a:endCxn id="370" idx="2"/>
          </p:cNvCxnSpPr>
          <p:nvPr/>
        </p:nvCxnSpPr>
        <p:spPr>
          <a:xfrm flipV="1">
            <a:off x="4442760" y="2345400"/>
            <a:ext cx="772200" cy="1454040"/>
          </a:xfrm>
          <a:prstGeom prst="straightConnector1">
            <a:avLst/>
          </a:prstGeom>
          <a:ln>
            <a:solidFill>
              <a:srgbClr val="4f81bd"/>
            </a:solidFill>
            <a:round/>
            <a:tailEnd len="med" type="arrow" w="med"/>
          </a:ln>
        </p:spPr>
      </p:cxnSp>
      <p:cxnSp>
        <p:nvCxnSpPr>
          <p:cNvPr id="377" name="Straight Arrow Connector 113"/>
          <p:cNvCxnSpPr>
            <a:stCxn id="360" idx="6"/>
            <a:endCxn id="372" idx="2"/>
          </p:cNvCxnSpPr>
          <p:nvPr/>
        </p:nvCxnSpPr>
        <p:spPr>
          <a:xfrm>
            <a:off x="4442760" y="3799080"/>
            <a:ext cx="775080" cy="360"/>
          </a:xfrm>
          <a:prstGeom prst="straightConnector1">
            <a:avLst/>
          </a:prstGeom>
          <a:ln>
            <a:solidFill>
              <a:srgbClr val="4f81bd"/>
            </a:solidFill>
            <a:round/>
            <a:tailEnd len="med" type="arrow" w="med"/>
          </a:ln>
        </p:spPr>
      </p:cxnSp>
      <p:sp>
        <p:nvSpPr>
          <p:cNvPr id="378" name="Oval 114"/>
          <p:cNvSpPr/>
          <p:nvPr/>
        </p:nvSpPr>
        <p:spPr>
          <a:xfrm>
            <a:off x="6449400" y="3422160"/>
            <a:ext cx="725400" cy="760680"/>
          </a:xfrm>
          <a:prstGeom prst="ellipse">
            <a:avLst/>
          </a:prstGeom>
          <a:solidFill>
            <a:srgbClr val="00800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9" name="TextBox 115"/>
          <p:cNvSpPr/>
          <p:nvPr/>
        </p:nvSpPr>
        <p:spPr>
          <a:xfrm>
            <a:off x="6539040" y="3654000"/>
            <a:ext cx="5461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r(1)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80" name="Straight Arrow Connector 116"/>
          <p:cNvCxnSpPr>
            <a:stCxn id="358" idx="6"/>
            <a:endCxn id="378" idx="2"/>
          </p:cNvCxnSpPr>
          <p:nvPr/>
        </p:nvCxnSpPr>
        <p:spPr>
          <a:xfrm>
            <a:off x="4442760" y="2345400"/>
            <a:ext cx="2007000" cy="1457640"/>
          </a:xfrm>
          <a:prstGeom prst="straightConnector1">
            <a:avLst/>
          </a:prstGeom>
          <a:ln>
            <a:solidFill>
              <a:srgbClr val="4f81bd"/>
            </a:solidFill>
            <a:round/>
            <a:tailEnd len="med" type="arrow" w="med"/>
          </a:ln>
        </p:spPr>
      </p:cxnSp>
      <p:sp>
        <p:nvSpPr>
          <p:cNvPr id="381" name="TextBox 41"/>
          <p:cNvSpPr/>
          <p:nvPr/>
        </p:nvSpPr>
        <p:spPr>
          <a:xfrm>
            <a:off x="7484040" y="656280"/>
            <a:ext cx="14040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lookahead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Box 118"/>
          <p:cNvSpPr/>
          <p:nvPr/>
        </p:nvSpPr>
        <p:spPr>
          <a:xfrm>
            <a:off x="7484040" y="1025640"/>
            <a:ext cx="16596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Collapsing node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Box 119"/>
          <p:cNvSpPr/>
          <p:nvPr/>
        </p:nvSpPr>
        <p:spPr>
          <a:xfrm>
            <a:off x="7484040" y="1467000"/>
            <a:ext cx="165960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W1’s time is adjusted in background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Box 120"/>
          <p:cNvSpPr/>
          <p:nvPr/>
        </p:nvSpPr>
        <p:spPr>
          <a:xfrm>
            <a:off x="7484040" y="2412720"/>
            <a:ext cx="16596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Collapsing node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Freeform 121"/>
          <p:cNvSpPr/>
          <p:nvPr/>
        </p:nvSpPr>
        <p:spPr>
          <a:xfrm flipV="1">
            <a:off x="2371680" y="2472840"/>
            <a:ext cx="1341000" cy="1328760"/>
          </a:xfrm>
          <a:custGeom>
            <a:avLst/>
            <a:gdLst>
              <a:gd name="textAreaLeft" fmla="*/ 0 w 1341000"/>
              <a:gd name="textAreaRight" fmla="*/ 1341360 w 1341000"/>
              <a:gd name="textAreaTop" fmla="*/ -360 h 1328760"/>
              <a:gd name="textAreaBottom" fmla="*/ 1328760 h 1328760"/>
              <a:gd name="GluePoint1X" fmla="*/ 0 w 782008"/>
              <a:gd name="GluePoint1Y" fmla="*/ 0 h 1174750"/>
              <a:gd name="GluePoint2X" fmla="*/ 682625 w 782008"/>
              <a:gd name="GluePoint2Y" fmla="*/ 508000 h 1174750"/>
              <a:gd name="GluePoint3X" fmla="*/ 777875 w 782008"/>
              <a:gd name="GluePoint3Y" fmla="*/ 1174750 h 11747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782008" h="1174750">
                <a:moveTo>
                  <a:pt x="0" y="0"/>
                </a:moveTo>
                <a:cubicBezTo>
                  <a:pt x="276489" y="156104"/>
                  <a:pt x="552979" y="312208"/>
                  <a:pt x="682625" y="508000"/>
                </a:cubicBezTo>
                <a:cubicBezTo>
                  <a:pt x="812271" y="703792"/>
                  <a:pt x="777875" y="1174750"/>
                  <a:pt x="777875" y="1174750"/>
                </a:cubicBezTo>
              </a:path>
            </a:pathLst>
          </a:custGeom>
          <a:noFill/>
          <a:ln w="6350">
            <a:solidFill>
              <a:srgbClr val="008000"/>
            </a:solidFill>
            <a:round/>
            <a:tailEnd len="med" type="arrow" w="med"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6" name="TextBox 122"/>
          <p:cNvSpPr/>
          <p:nvPr/>
        </p:nvSpPr>
        <p:spPr>
          <a:xfrm>
            <a:off x="7484040" y="2844000"/>
            <a:ext cx="16596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Collapsing node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Box 124"/>
          <p:cNvSpPr/>
          <p:nvPr/>
        </p:nvSpPr>
        <p:spPr>
          <a:xfrm>
            <a:off x="7484040" y="3329640"/>
            <a:ext cx="16596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Collapsing node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126"/>
          <p:cNvSpPr/>
          <p:nvPr/>
        </p:nvSpPr>
        <p:spPr>
          <a:xfrm>
            <a:off x="7484040" y="3851280"/>
            <a:ext cx="16596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Collapsing node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Freeform 129"/>
          <p:cNvSpPr/>
          <p:nvPr/>
        </p:nvSpPr>
        <p:spPr>
          <a:xfrm>
            <a:off x="4159080" y="3778200"/>
            <a:ext cx="988560" cy="769320"/>
          </a:xfrm>
          <a:custGeom>
            <a:avLst/>
            <a:gdLst>
              <a:gd name="textAreaLeft" fmla="*/ 0 w 988560"/>
              <a:gd name="textAreaRight" fmla="*/ 988920 w 988560"/>
              <a:gd name="textAreaTop" fmla="*/ 0 h 769320"/>
              <a:gd name="textAreaBottom" fmla="*/ 769680 h 769320"/>
              <a:gd name="GluePoint1X" fmla="*/ 301625 w 988894"/>
              <a:gd name="GluePoint1Y" fmla="*/ 0 h 769645"/>
              <a:gd name="GluePoint2X" fmla="*/ 984250 w 988894"/>
              <a:gd name="GluePoint2Y" fmla="*/ 762000 h 769645"/>
              <a:gd name="GluePoint3X" fmla="*/ 0 w 988894"/>
              <a:gd name="GluePoint3Y" fmla="*/ 412750 h 76964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988894" h="769645">
                <a:moveTo>
                  <a:pt x="301625" y="0"/>
                </a:moveTo>
                <a:cubicBezTo>
                  <a:pt x="668073" y="346604"/>
                  <a:pt x="1034521" y="693208"/>
                  <a:pt x="984250" y="762000"/>
                </a:cubicBezTo>
                <a:cubicBezTo>
                  <a:pt x="933979" y="830792"/>
                  <a:pt x="0" y="412750"/>
                  <a:pt x="0" y="412750"/>
                </a:cubicBezTo>
              </a:path>
            </a:pathLst>
          </a:custGeom>
          <a:noFill/>
          <a:ln w="6350">
            <a:solidFill>
              <a:srgbClr val="008000"/>
            </a:solidFill>
            <a:round/>
            <a:tailEnd len="med" type="arrow" w="med"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0" name="Freeform 130"/>
          <p:cNvSpPr/>
          <p:nvPr/>
        </p:nvSpPr>
        <p:spPr>
          <a:xfrm>
            <a:off x="4143240" y="2349360"/>
            <a:ext cx="442800" cy="1063440"/>
          </a:xfrm>
          <a:custGeom>
            <a:avLst/>
            <a:gdLst>
              <a:gd name="textAreaLeft" fmla="*/ 0 w 442800"/>
              <a:gd name="textAreaRight" fmla="*/ 443160 w 442800"/>
              <a:gd name="textAreaTop" fmla="*/ 0 h 1063440"/>
              <a:gd name="textAreaBottom" fmla="*/ 1063800 h 1063440"/>
              <a:gd name="GluePoint1X" fmla="*/ 301625 w 443230"/>
              <a:gd name="GluePoint1Y" fmla="*/ 0 h 1063625"/>
              <a:gd name="GluePoint2X" fmla="*/ 428625 w 443230"/>
              <a:gd name="GluePoint2Y" fmla="*/ 746125 h 1063625"/>
              <a:gd name="GluePoint3X" fmla="*/ 0 w 443230"/>
              <a:gd name="GluePoint3Y" fmla="*/ 1063625 h 106362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443230" h="1063625">
                <a:moveTo>
                  <a:pt x="301625" y="0"/>
                </a:moveTo>
                <a:cubicBezTo>
                  <a:pt x="390260" y="284427"/>
                  <a:pt x="478896" y="568854"/>
                  <a:pt x="428625" y="746125"/>
                </a:cubicBezTo>
                <a:cubicBezTo>
                  <a:pt x="378354" y="923396"/>
                  <a:pt x="0" y="1063625"/>
                  <a:pt x="0" y="1063625"/>
                </a:cubicBezTo>
              </a:path>
            </a:pathLst>
          </a:custGeom>
          <a:noFill/>
          <a:ln w="6350">
            <a:solidFill>
              <a:srgbClr val="008000"/>
            </a:solidFill>
            <a:round/>
            <a:tailEnd len="med" type="arrow" w="med"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1" name="Freeform 131"/>
          <p:cNvSpPr/>
          <p:nvPr/>
        </p:nvSpPr>
        <p:spPr>
          <a:xfrm>
            <a:off x="4000680" y="1440360"/>
            <a:ext cx="577800" cy="893160"/>
          </a:xfrm>
          <a:custGeom>
            <a:avLst/>
            <a:gdLst>
              <a:gd name="textAreaLeft" fmla="*/ 0 w 577800"/>
              <a:gd name="textAreaRight" fmla="*/ 578160 w 577800"/>
              <a:gd name="textAreaTop" fmla="*/ 0 h 893160"/>
              <a:gd name="textAreaBottom" fmla="*/ 893520 h 893160"/>
              <a:gd name="GluePoint1X" fmla="*/ 492125 w 578263"/>
              <a:gd name="GluePoint1Y" fmla="*/ 893440 h 893440"/>
              <a:gd name="GluePoint2X" fmla="*/ 539750 w 578263"/>
              <a:gd name="GluePoint2Y" fmla="*/ 4440 h 893440"/>
              <a:gd name="GluePoint3X" fmla="*/ 0 w 578263"/>
              <a:gd name="GluePoint3Y" fmla="*/ 528315 h 89344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578263" h="893440">
                <a:moveTo>
                  <a:pt x="492125" y="893440"/>
                </a:moveTo>
                <a:cubicBezTo>
                  <a:pt x="556948" y="479367"/>
                  <a:pt x="621771" y="65294"/>
                  <a:pt x="539750" y="4440"/>
                </a:cubicBezTo>
                <a:cubicBezTo>
                  <a:pt x="457729" y="-56414"/>
                  <a:pt x="0" y="528315"/>
                  <a:pt x="0" y="528315"/>
                </a:cubicBezTo>
              </a:path>
            </a:pathLst>
          </a:custGeom>
          <a:noFill/>
          <a:ln w="6350">
            <a:solidFill>
              <a:srgbClr val="008000"/>
            </a:solidFill>
            <a:round/>
            <a:tailEnd len="med" type="arrow" w="med"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2" name="Freeform 133"/>
          <p:cNvSpPr/>
          <p:nvPr/>
        </p:nvSpPr>
        <p:spPr>
          <a:xfrm>
            <a:off x="3965760" y="2714760"/>
            <a:ext cx="208800" cy="698040"/>
          </a:xfrm>
          <a:custGeom>
            <a:avLst/>
            <a:gdLst>
              <a:gd name="textAreaLeft" fmla="*/ 0 w 208800"/>
              <a:gd name="textAreaRight" fmla="*/ 209160 w 208800"/>
              <a:gd name="textAreaTop" fmla="*/ 0 h 698040"/>
              <a:gd name="textAreaBottom" fmla="*/ 698400 h 698040"/>
              <a:gd name="GluePoint1X" fmla="*/ 209302 w 209302"/>
              <a:gd name="GluePoint1Y" fmla="*/ 698500 h 698500"/>
              <a:gd name="GluePoint2X" fmla="*/ 2927 w 209302"/>
              <a:gd name="GluePoint2Y" fmla="*/ 333375 h 698500"/>
              <a:gd name="GluePoint3X" fmla="*/ 82302 w 209302"/>
              <a:gd name="GluePoint3Y" fmla="*/ 0 h 6985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09302" h="698500">
                <a:moveTo>
                  <a:pt x="209302" y="698500"/>
                </a:moveTo>
                <a:cubicBezTo>
                  <a:pt x="116698" y="574146"/>
                  <a:pt x="24094" y="449792"/>
                  <a:pt x="2927" y="333375"/>
                </a:cubicBezTo>
                <a:cubicBezTo>
                  <a:pt x="-18240" y="216958"/>
                  <a:pt x="82302" y="0"/>
                  <a:pt x="82302" y="0"/>
                </a:cubicBezTo>
              </a:path>
            </a:pathLst>
          </a:custGeom>
          <a:noFill/>
          <a:ln w="6350">
            <a:solidFill>
              <a:srgbClr val="ff0000"/>
            </a:solidFill>
            <a:round/>
            <a:tailEnd len="med" type="arrow" w="med"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3" name="TextBox 134"/>
          <p:cNvSpPr/>
          <p:nvPr/>
        </p:nvSpPr>
        <p:spPr>
          <a:xfrm>
            <a:off x="7500240" y="4363200"/>
            <a:ext cx="16596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Cycle found!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94" name="Straight Arrow Connector 135"/>
          <p:cNvCxnSpPr>
            <a:stCxn id="360" idx="6"/>
            <a:endCxn id="378" idx="2"/>
          </p:cNvCxnSpPr>
          <p:nvPr/>
        </p:nvCxnSpPr>
        <p:spPr>
          <a:xfrm>
            <a:off x="4442760" y="3799080"/>
            <a:ext cx="2007000" cy="3960"/>
          </a:xfrm>
          <a:prstGeom prst="straightConnector1">
            <a:avLst/>
          </a:prstGeom>
          <a:ln>
            <a:solidFill>
              <a:srgbClr val="4f81bd"/>
            </a:solidFill>
            <a:round/>
            <a:tailEnd len="med" type="arrow" w="med"/>
          </a:ln>
        </p:spPr>
      </p:cxnSp>
      <p:sp>
        <p:nvSpPr>
          <p:cNvPr id="395" name="TextBox 138"/>
          <p:cNvSpPr/>
          <p:nvPr/>
        </p:nvSpPr>
        <p:spPr>
          <a:xfrm>
            <a:off x="7500240" y="4824000"/>
            <a:ext cx="16596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Collapsing node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Freeform 139"/>
          <p:cNvSpPr/>
          <p:nvPr/>
        </p:nvSpPr>
        <p:spPr>
          <a:xfrm>
            <a:off x="2381400" y="2111400"/>
            <a:ext cx="1380600" cy="1618920"/>
          </a:xfrm>
          <a:custGeom>
            <a:avLst/>
            <a:gdLst>
              <a:gd name="textAreaLeft" fmla="*/ 0 w 1380600"/>
              <a:gd name="textAreaRight" fmla="*/ 1380960 w 1380600"/>
              <a:gd name="textAreaTop" fmla="*/ 0 h 1618920"/>
              <a:gd name="textAreaBottom" fmla="*/ 1619280 h 1618920"/>
              <a:gd name="GluePoint1X" fmla="*/ 1381125 w 1381125"/>
              <a:gd name="GluePoint1Y" fmla="*/ 0 h 1619250"/>
              <a:gd name="GluePoint2X" fmla="*/ 285750 w 1381125"/>
              <a:gd name="GluePoint2Y" fmla="*/ 508000 h 1619250"/>
              <a:gd name="GluePoint3X" fmla="*/ 0 w 1381125"/>
              <a:gd name="GluePoint3Y" fmla="*/ 1619250 h 16192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1381125" h="1619250">
                <a:moveTo>
                  <a:pt x="1381125" y="0"/>
                </a:moveTo>
                <a:cubicBezTo>
                  <a:pt x="948531" y="119062"/>
                  <a:pt x="515937" y="238125"/>
                  <a:pt x="285750" y="508000"/>
                </a:cubicBezTo>
                <a:cubicBezTo>
                  <a:pt x="55563" y="777875"/>
                  <a:pt x="0" y="1619250"/>
                  <a:pt x="0" y="1619250"/>
                </a:cubicBezTo>
              </a:path>
            </a:pathLst>
          </a:custGeom>
          <a:noFill/>
          <a:ln w="6350">
            <a:solidFill>
              <a:srgbClr val="ff0000"/>
            </a:solidFill>
            <a:round/>
            <a:tailEnd len="med" type="arrow" w="med"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7" name="Freeform 140"/>
          <p:cNvSpPr/>
          <p:nvPr/>
        </p:nvSpPr>
        <p:spPr>
          <a:xfrm>
            <a:off x="2413080" y="3841920"/>
            <a:ext cx="1650600" cy="618480"/>
          </a:xfrm>
          <a:custGeom>
            <a:avLst/>
            <a:gdLst>
              <a:gd name="textAreaLeft" fmla="*/ 0 w 1650600"/>
              <a:gd name="textAreaRight" fmla="*/ 1650960 w 1650600"/>
              <a:gd name="textAreaTop" fmla="*/ 0 h 618480"/>
              <a:gd name="textAreaBottom" fmla="*/ 618840 h 618480"/>
              <a:gd name="GluePoint1X" fmla="*/ 1651000 w 1651000"/>
              <a:gd name="GluePoint1Y" fmla="*/ 381000 h 618758"/>
              <a:gd name="GluePoint2X" fmla="*/ 825500 w 1651000"/>
              <a:gd name="GluePoint2Y" fmla="*/ 603250 h 618758"/>
              <a:gd name="GluePoint3X" fmla="*/ 0 w 1651000"/>
              <a:gd name="GluePoint3Y" fmla="*/ 0 h 61875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1651000" h="618758">
                <a:moveTo>
                  <a:pt x="1651000" y="381000"/>
                </a:moveTo>
                <a:cubicBezTo>
                  <a:pt x="1375833" y="523875"/>
                  <a:pt x="1100667" y="666750"/>
                  <a:pt x="825500" y="603250"/>
                </a:cubicBezTo>
                <a:cubicBezTo>
                  <a:pt x="550333" y="539750"/>
                  <a:pt x="275166" y="269875"/>
                  <a:pt x="0" y="0"/>
                </a:cubicBezTo>
              </a:path>
            </a:pathLst>
          </a:custGeom>
          <a:noFill/>
          <a:ln w="6350">
            <a:solidFill>
              <a:srgbClr val="ff0000"/>
            </a:solidFill>
            <a:round/>
            <a:tailEnd len="med" type="arrow" w="med"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8" name="TextBox 141"/>
          <p:cNvSpPr/>
          <p:nvPr/>
        </p:nvSpPr>
        <p:spPr>
          <a:xfrm>
            <a:off x="7500240" y="5353200"/>
            <a:ext cx="16596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Cycle found!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Rounded Rectangular Callout 143"/>
          <p:cNvSpPr/>
          <p:nvPr/>
        </p:nvSpPr>
        <p:spPr>
          <a:xfrm>
            <a:off x="4265640" y="5448960"/>
            <a:ext cx="2741040" cy="1089360"/>
          </a:xfrm>
          <a:prstGeom prst="wedgeRoundRectCallout">
            <a:avLst>
              <a:gd name="adj1" fmla="val -55160"/>
              <a:gd name="adj2" fmla="val -141740"/>
              <a:gd name="adj3" fmla="val 16667"/>
            </a:avLst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ff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We found 2 anomalies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Freeform 2"/>
          <p:cNvSpPr/>
          <p:nvPr/>
        </p:nvSpPr>
        <p:spPr>
          <a:xfrm>
            <a:off x="2415960" y="3485160"/>
            <a:ext cx="1279080" cy="305280"/>
          </a:xfrm>
          <a:custGeom>
            <a:avLst/>
            <a:gdLst>
              <a:gd name="textAreaLeft" fmla="*/ 0 w 1279080"/>
              <a:gd name="textAreaRight" fmla="*/ 1279440 w 1279080"/>
              <a:gd name="textAreaTop" fmla="*/ 0 h 305280"/>
              <a:gd name="textAreaBottom" fmla="*/ 305640 h 305280"/>
              <a:gd name="GluePoint1X" fmla="*/ 0 w 1279515"/>
              <a:gd name="GluePoint1Y" fmla="*/ 305602 h 305602"/>
              <a:gd name="GluePoint2X" fmla="*/ 964411 w 1279515"/>
              <a:gd name="GluePoint2Y" fmla="*/ 60 h 305602"/>
              <a:gd name="GluePoint3X" fmla="*/ 1279515 w 1279515"/>
              <a:gd name="GluePoint3Y" fmla="*/ 276958 h 3056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1279515" h="305602">
                <a:moveTo>
                  <a:pt x="0" y="305602"/>
                </a:moveTo>
                <a:cubicBezTo>
                  <a:pt x="375579" y="155218"/>
                  <a:pt x="751159" y="4834"/>
                  <a:pt x="964411" y="60"/>
                </a:cubicBezTo>
                <a:cubicBezTo>
                  <a:pt x="1177663" y="-4714"/>
                  <a:pt x="1279515" y="276958"/>
                  <a:pt x="1279515" y="276958"/>
                </a:cubicBezTo>
              </a:path>
            </a:pathLst>
          </a:custGeom>
          <a:noFill/>
          <a:ln w="6350">
            <a:solidFill>
              <a:srgbClr val="008000"/>
            </a:solidFill>
            <a:round/>
            <a:tailEnd len="med" type="arrow" w="med"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C5C1805-1062-4FE0-B9B0-0FA2734E1380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82" dur="indefinite" restart="never" nodeType="tmRoot">
          <p:childTnLst>
            <p:seq>
              <p:cTn id="483" dur="indefinite" nodeType="mainSeq">
                <p:childTnLst>
                  <p:par>
                    <p:cTn id="484" fill="hold">
                      <p:stCondLst>
                        <p:cond delay="indefinite"/>
                      </p:stCondLst>
                      <p:childTnLst>
                        <p:par>
                          <p:cTn id="485" fill="hold">
                            <p:stCondLst>
                              <p:cond delay="0"/>
                            </p:stCondLst>
                            <p:childTnLst>
                              <p:par>
                                <p:cTn id="486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88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9" fill="hold">
                      <p:stCondLst>
                        <p:cond delay="indefinite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93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4" fill="hold">
                      <p:stCondLst>
                        <p:cond delay="indefinite"/>
                      </p:stCondLst>
                      <p:childTnLst>
                        <p:par>
                          <p:cTn id="495" fill="hold">
                            <p:stCondLst>
                              <p:cond delay="0"/>
                            </p:stCondLst>
                            <p:childTnLst>
                              <p:par>
                                <p:cTn id="496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98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9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01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2" fill="hold">
                      <p:stCondLst>
                        <p:cond delay="indefinite"/>
                      </p:stCondLst>
                      <p:childTnLst>
                        <p:par>
                          <p:cTn id="503" fill="hold">
                            <p:stCondLst>
                              <p:cond delay="0"/>
                            </p:stCondLst>
                            <p:childTnLst>
                              <p:par>
                                <p:cTn id="504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06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7" fill="hold">
                      <p:stCondLst>
                        <p:cond delay="indefinite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6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511" dur="2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2" presetID="6" presetClass="entr" fill="hold" nodeType="with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514" dur="2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5" fill="hold">
                      <p:stCondLst>
                        <p:cond delay="indefinite"/>
                      </p:stCondLst>
                      <p:childTnLst>
                        <p:par>
                          <p:cTn id="516" fill="hold">
                            <p:stCondLst>
                              <p:cond delay="0"/>
                            </p:stCondLst>
                            <p:childTnLst>
                              <p:par>
                                <p:cTn id="517" presetID="2" presetClass="entr" fill="hold" nodeType="click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19" dur="500" fill="hold"/>
                                        <p:tgtEl>
                                          <p:spTgt spid="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20" dur="500" fill="hold"/>
                                        <p:tgtEl>
                                          <p:spTgt spid="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1" fill="hold">
                      <p:stCondLst>
                        <p:cond delay="indefinite"/>
                      </p:stCondLst>
                      <p:childTnLst>
                        <p:par>
                          <p:cTn id="522" fill="hold">
                            <p:stCondLst>
                              <p:cond delay="0"/>
                            </p:stCondLst>
                            <p:childTnLst>
                              <p:par>
                                <p:cTn id="523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25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6" fill="hold">
                      <p:stCondLst>
                        <p:cond delay="indefinite"/>
                      </p:stCondLst>
                      <p:childTnLst>
                        <p:par>
                          <p:cTn id="527" fill="hold">
                            <p:stCondLst>
                              <p:cond delay="0"/>
                            </p:stCondLst>
                            <p:childTnLst>
                              <p:par>
                                <p:cTn id="528" presetID="2" presetClass="entr" fill="hold" nodeType="click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30" dur="500" fill="hold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31" dur="500" fill="hold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2" fill="hold">
                      <p:stCondLst>
                        <p:cond delay="indefinite"/>
                      </p:stCondLst>
                      <p:childTnLst>
                        <p:par>
                          <p:cTn id="533" fill="hold">
                            <p:stCondLst>
                              <p:cond delay="0"/>
                            </p:stCondLst>
                            <p:childTnLst>
                              <p:par>
                                <p:cTn id="534" presetID="3" presetClass="exit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blinds(horizontal)" transition="out">
                                      <p:cBhvr additive="repl">
                                        <p:cTn id="535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7" fill="hold">
                      <p:stCondLst>
                        <p:cond delay="indefinite"/>
                      </p:stCondLst>
                      <p:childTnLst>
                        <p:par>
                          <p:cTn id="538" fill="hold">
                            <p:stCondLst>
                              <p:cond delay="0"/>
                            </p:stCondLst>
                            <p:childTnLst>
                              <p:par>
                                <p:cTn id="539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41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2" fill="hold">
                      <p:stCondLst>
                        <p:cond delay="indefinite"/>
                      </p:stCondLst>
                      <p:childTnLst>
                        <p:par>
                          <p:cTn id="543" fill="hold">
                            <p:stCondLst>
                              <p:cond delay="0"/>
                            </p:stCondLst>
                            <p:childTnLst>
                              <p:par>
                                <p:cTn id="544" presetID="5" presetClass="exit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checkerboard(across)" transition="out">
                                      <p:cBhvr additive="repl">
                                        <p:cTn id="545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7" presetID="5" presetClass="exit" fill="hold" nodeType="withEffect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checkerboard(across)" transition="out">
                                      <p:cBhvr additive="repl">
                                        <p:cTn id="548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0" fill="hold">
                      <p:stCondLst>
                        <p:cond delay="indefinite"/>
                      </p:stCondLst>
                      <p:childTnLst>
                        <p:par>
                          <p:cTn id="551" fill="hold">
                            <p:stCondLst>
                              <p:cond delay="0"/>
                            </p:stCondLst>
                            <p:childTnLst>
                              <p:par>
                                <p:cTn id="552" presetID="6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554" dur="20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5" fill="hold">
                      <p:stCondLst>
                        <p:cond delay="indefinite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59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0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62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3" fill="hold">
                      <p:stCondLst>
                        <p:cond delay="indefinite"/>
                      </p:stCondLst>
                      <p:childTnLst>
                        <p:par>
                          <p:cTn id="564" fill="hold">
                            <p:stCondLst>
                              <p:cond delay="0"/>
                            </p:stCondLst>
                            <p:childTnLst>
                              <p:par>
                                <p:cTn id="56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67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8" fill="hold">
                      <p:stCondLst>
                        <p:cond delay="indefinite"/>
                      </p:stCondLst>
                      <p:childTnLst>
                        <p:par>
                          <p:cTn id="569" fill="hold">
                            <p:stCondLst>
                              <p:cond delay="0"/>
                            </p:stCondLst>
                            <p:childTnLst>
                              <p:par>
                                <p:cTn id="57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72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3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75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6" fill="hold">
                      <p:stCondLst>
                        <p:cond delay="indefinite"/>
                      </p:stCondLst>
                      <p:childTnLst>
                        <p:par>
                          <p:cTn id="577" fill="hold">
                            <p:stCondLst>
                              <p:cond delay="0"/>
                            </p:stCondLst>
                            <p:childTnLst>
                              <p:par>
                                <p:cTn id="578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80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1" fill="hold">
                      <p:stCondLst>
                        <p:cond delay="indefinite"/>
                      </p:stCondLst>
                      <p:childTnLst>
                        <p:par>
                          <p:cTn id="582" fill="hold">
                            <p:stCondLst>
                              <p:cond delay="0"/>
                            </p:stCondLst>
                            <p:childTnLst>
                              <p:par>
                                <p:cTn id="583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85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6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88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9" fill="hold">
                      <p:stCondLst>
                        <p:cond delay="indefinite"/>
                      </p:stCondLst>
                      <p:childTnLst>
                        <p:par>
                          <p:cTn id="590" fill="hold">
                            <p:stCondLst>
                              <p:cond delay="0"/>
                            </p:stCondLst>
                            <p:childTnLst>
                              <p:par>
                                <p:cTn id="591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93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4" fill="hold">
                      <p:stCondLst>
                        <p:cond delay="indefinite"/>
                      </p:stCondLst>
                      <p:childTnLst>
                        <p:par>
                          <p:cTn id="595" fill="hold">
                            <p:stCondLst>
                              <p:cond delay="0"/>
                            </p:stCondLst>
                            <p:childTnLst>
                              <p:par>
                                <p:cTn id="596" presetID="2" presetClass="entr" fill="hold" nodeType="click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98" dur="500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99" dur="500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0" fill="hold">
                      <p:stCondLst>
                        <p:cond delay="indefinite"/>
                      </p:stCondLst>
                      <p:childTnLst>
                        <p:par>
                          <p:cTn id="601" fill="hold">
                            <p:stCondLst>
                              <p:cond delay="0"/>
                            </p:stCondLst>
                            <p:childTnLst>
                              <p:par>
                                <p:cTn id="60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04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5" fill="hold">
                      <p:stCondLst>
                        <p:cond delay="indefinite"/>
                      </p:stCondLst>
                      <p:childTnLst>
                        <p:par>
                          <p:cTn id="606" fill="hold">
                            <p:stCondLst>
                              <p:cond delay="0"/>
                            </p:stCondLst>
                            <p:childTnLst>
                              <p:par>
                                <p:cTn id="607" presetID="5" presetClass="exit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checkerboard(across)" transition="out">
                                      <p:cBhvr additive="repl">
                                        <p:cTn id="608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0" fill="hold">
                      <p:stCondLst>
                        <p:cond delay="indefinite"/>
                      </p:stCondLst>
                      <p:childTnLst>
                        <p:par>
                          <p:cTn id="611" fill="hold">
                            <p:stCondLst>
                              <p:cond delay="0"/>
                            </p:stCondLst>
                            <p:childTnLst>
                              <p:par>
                                <p:cTn id="612" presetID="6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614" dur="20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5" fill="hold">
                      <p:stCondLst>
                        <p:cond delay="indefinite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presetID="5" presetClass="exit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checkerboard(across)" transition="out">
                                      <p:cBhvr additive="repl">
                                        <p:cTn id="618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0" presetID="5" presetClass="exit" fill="hold" nodeType="withEffect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checkerboard(across)" transition="out">
                                      <p:cBhvr additive="repl">
                                        <p:cTn id="621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3" fill="hold">
                      <p:stCondLst>
                        <p:cond delay="indefinite"/>
                      </p:stCondLst>
                      <p:childTnLst>
                        <p:par>
                          <p:cTn id="624" fill="hold">
                            <p:stCondLst>
                              <p:cond delay="0"/>
                            </p:stCondLst>
                            <p:childTnLst>
                              <p:par>
                                <p:cTn id="62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27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8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30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1" fill="hold">
                      <p:stCondLst>
                        <p:cond delay="indefinite"/>
                      </p:stCondLst>
                      <p:childTnLst>
                        <p:par>
                          <p:cTn id="632" fill="hold">
                            <p:stCondLst>
                              <p:cond delay="0"/>
                            </p:stCondLst>
                            <p:childTnLst>
                              <p:par>
                                <p:cTn id="633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35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6" fill="hold">
                      <p:stCondLst>
                        <p:cond delay="indefinite"/>
                      </p:stCondLst>
                      <p:childTnLst>
                        <p:par>
                          <p:cTn id="637" fill="hold">
                            <p:stCondLst>
                              <p:cond delay="0"/>
                            </p:stCondLst>
                            <p:childTnLst>
                              <p:par>
                                <p:cTn id="638" presetID="2" presetClass="entr" fill="hold" nodeType="click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40" dur="500" fill="hold"/>
                                        <p:tgtEl>
                                          <p:spTgt spid="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41" dur="500" fill="hold"/>
                                        <p:tgtEl>
                                          <p:spTgt spid="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2" fill="hold">
                      <p:stCondLst>
                        <p:cond delay="indefinite"/>
                      </p:stCondLst>
                      <p:childTnLst>
                        <p:par>
                          <p:cTn id="643" fill="hold">
                            <p:stCondLst>
                              <p:cond delay="0"/>
                            </p:stCondLst>
                            <p:childTnLst>
                              <p:par>
                                <p:cTn id="644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46"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7" fill="hold">
                      <p:stCondLst>
                        <p:cond delay="indefinite"/>
                      </p:stCondLst>
                      <p:childTnLst>
                        <p:par>
                          <p:cTn id="648" fill="hold">
                            <p:stCondLst>
                              <p:cond delay="0"/>
                            </p:stCondLst>
                            <p:childTnLst>
                              <p:par>
                                <p:cTn id="649" presetID="5" presetClass="exit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checkerboard(across)" transition="out">
                                      <p:cBhvr additive="repl">
                                        <p:cTn id="650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2" fill="hold">
                      <p:stCondLst>
                        <p:cond delay="indefinite"/>
                      </p:stCondLst>
                      <p:childTnLst>
                        <p:par>
                          <p:cTn id="653" fill="hold">
                            <p:stCondLst>
                              <p:cond delay="0"/>
                            </p:stCondLst>
                            <p:childTnLst>
                              <p:par>
                                <p:cTn id="654" presetID="5" presetClass="exit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checkerboard(across)" transition="out">
                                      <p:cBhvr additive="repl">
                                        <p:cTn id="655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7" presetID="5" presetClass="exit" fill="hold" nodeType="withEffect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checkerboard(across)" transition="out">
                                      <p:cBhvr additive="repl">
                                        <p:cTn id="658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0" fill="hold">
                      <p:stCondLst>
                        <p:cond delay="indefinite"/>
                      </p:stCondLst>
                      <p:childTnLst>
                        <p:par>
                          <p:cTn id="661" fill="hold">
                            <p:stCondLst>
                              <p:cond delay="0"/>
                            </p:stCondLst>
                            <p:childTnLst>
                              <p:par>
                                <p:cTn id="66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64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5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67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8" fill="hold">
                      <p:stCondLst>
                        <p:cond delay="indefinite"/>
                      </p:stCondLst>
                      <p:childTnLst>
                        <p:par>
                          <p:cTn id="669" fill="hold">
                            <p:stCondLst>
                              <p:cond delay="0"/>
                            </p:stCondLst>
                            <p:childTnLst>
                              <p:par>
                                <p:cTn id="67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72"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3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75"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6" fill="hold">
                      <p:stCondLst>
                        <p:cond delay="indefinite"/>
                      </p:stCondLst>
                      <p:childTnLst>
                        <p:par>
                          <p:cTn id="677" fill="hold">
                            <p:stCondLst>
                              <p:cond delay="0"/>
                            </p:stCondLst>
                            <p:childTnLst>
                              <p:par>
                                <p:cTn id="678" presetID="2" presetClass="entr" fill="hold" nodeType="click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80" dur="500" fill="hold"/>
                                        <p:tgtEl>
                                          <p:spTgt spid="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81" dur="500" fill="hold"/>
                                        <p:tgtEl>
                                          <p:spTgt spid="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2" fill="hold">
                      <p:stCondLst>
                        <p:cond delay="indefinite"/>
                      </p:stCondLst>
                      <p:childTnLst>
                        <p:par>
                          <p:cTn id="683" fill="hold">
                            <p:stCondLst>
                              <p:cond delay="0"/>
                            </p:stCondLst>
                            <p:childTnLst>
                              <p:par>
                                <p:cTn id="684" presetID="5" presetClass="exit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checkerboard(across)" transition="out">
                                      <p:cBhvr additive="repl">
                                        <p:cTn id="685"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7" fill="hold">
                      <p:stCondLst>
                        <p:cond delay="indefinite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presetID="6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691" dur="20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2" fill="hold">
                      <p:stCondLst>
                        <p:cond delay="indefinite"/>
                      </p:stCondLst>
                      <p:childTnLst>
                        <p:par>
                          <p:cTn id="693" fill="hold">
                            <p:stCondLst>
                              <p:cond delay="0"/>
                            </p:stCondLst>
                            <p:childTnLst>
                              <p:par>
                                <p:cTn id="694" presetID="5" presetClass="exit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checkerboard(across)" transition="out">
                                      <p:cBhvr additive="repl">
                                        <p:cTn id="695"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7" fill="hold">
                      <p:stCondLst>
                        <p:cond delay="indefinite"/>
                      </p:stCondLst>
                      <p:childTnLst>
                        <p:par>
                          <p:cTn id="698" fill="hold">
                            <p:stCondLst>
                              <p:cond delay="0"/>
                            </p:stCondLst>
                            <p:childTnLst>
                              <p:par>
                                <p:cTn id="699" presetID="6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701" dur="20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2" fill="hold">
                      <p:stCondLst>
                        <p:cond delay="indefinite"/>
                      </p:stCondLst>
                      <p:childTnLst>
                        <p:par>
                          <p:cTn id="703" fill="hold">
                            <p:stCondLst>
                              <p:cond delay="0"/>
                            </p:stCondLst>
                            <p:childTnLst>
                              <p:par>
                                <p:cTn id="704" presetID="5" presetClass="exit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checkerboard(across)" transition="out">
                                      <p:cBhvr additive="repl">
                                        <p:cTn id="705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7" presetID="5" presetClass="exit" fill="hold" nodeType="withEffect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checkerboard(across)" transition="out">
                                      <p:cBhvr additive="repl">
                                        <p:cTn id="708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0" fill="hold">
                      <p:stCondLst>
                        <p:cond delay="indefinite"/>
                      </p:stCondLst>
                      <p:childTnLst>
                        <p:par>
                          <p:cTn id="711" fill="hold">
                            <p:stCondLst>
                              <p:cond delay="0"/>
                            </p:stCondLst>
                            <p:childTnLst>
                              <p:par>
                                <p:cTn id="71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14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5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17"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8" fill="hold">
                      <p:stCondLst>
                        <p:cond delay="indefinite"/>
                      </p:stCondLst>
                      <p:childTnLst>
                        <p:par>
                          <p:cTn id="719" fill="hold">
                            <p:stCondLst>
                              <p:cond delay="0"/>
                            </p:stCondLst>
                            <p:childTnLst>
                              <p:par>
                                <p:cTn id="72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22"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3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25"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6" fill="hold">
                      <p:stCondLst>
                        <p:cond delay="indefinite"/>
                      </p:stCondLst>
                      <p:childTnLst>
                        <p:par>
                          <p:cTn id="727" fill="hold">
                            <p:stCondLst>
                              <p:cond delay="0"/>
                            </p:stCondLst>
                            <p:childTnLst>
                              <p:par>
                                <p:cTn id="728" presetID="2" presetClass="entr" fill="hold" nodeType="click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30" dur="50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31" dur="50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2" fill="hold">
                      <p:stCondLst>
                        <p:cond delay="indefinite"/>
                      </p:stCondLst>
                      <p:childTnLst>
                        <p:par>
                          <p:cTn id="733" fill="hold">
                            <p:stCondLst>
                              <p:cond delay="0"/>
                            </p:stCondLst>
                            <p:childTnLst>
                              <p:par>
                                <p:cTn id="734" presetID="5" presetClass="exit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checkerboard(across)" transition="out">
                                      <p:cBhvr additive="repl">
                                        <p:cTn id="735"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7" fill="hold">
                      <p:stCondLst>
                        <p:cond delay="indefinite"/>
                      </p:stCondLst>
                      <p:childTnLst>
                        <p:par>
                          <p:cTn id="738" fill="hold">
                            <p:stCondLst>
                              <p:cond delay="0"/>
                            </p:stCondLst>
                            <p:childTnLst>
                              <p:par>
                                <p:cTn id="739" presetID="6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741" dur="20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2" fill="hold">
                      <p:stCondLst>
                        <p:cond delay="indefinite"/>
                      </p:stCondLst>
                      <p:childTnLst>
                        <p:par>
                          <p:cTn id="743" fill="hold">
                            <p:stCondLst>
                              <p:cond delay="0"/>
                            </p:stCondLst>
                            <p:childTnLst>
                              <p:par>
                                <p:cTn id="744" presetID="5" presetClass="exit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checkerboard(across)" transition="out">
                                      <p:cBhvr additive="repl">
                                        <p:cTn id="745"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7" fill="hold">
                      <p:stCondLst>
                        <p:cond delay="indefinite"/>
                      </p:stCondLst>
                      <p:childTnLst>
                        <p:par>
                          <p:cTn id="748" fill="hold">
                            <p:stCondLst>
                              <p:cond delay="0"/>
                            </p:stCondLst>
                            <p:childTnLst>
                              <p:par>
                                <p:cTn id="749" presetID="6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751" dur="20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2" fill="hold">
                      <p:stCondLst>
                        <p:cond delay="indefinite"/>
                      </p:stCondLst>
                      <p:childTnLst>
                        <p:par>
                          <p:cTn id="753" fill="hold">
                            <p:stCondLst>
                              <p:cond delay="0"/>
                            </p:stCondLst>
                            <p:childTnLst>
                              <p:par>
                                <p:cTn id="754" presetID="2" presetClass="entr" fill="hold" nodeType="click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56" dur="500" fill="hold"/>
                                        <p:tgtEl>
                                          <p:spTgt spid="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57" dur="500" fill="hold"/>
                                        <p:tgtEl>
                                          <p:spTgt spid="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8" fill="hold">
                      <p:stCondLst>
                        <p:cond delay="indefinite"/>
                      </p:stCondLst>
                      <p:childTnLst>
                        <p:par>
                          <p:cTn id="759" fill="hold">
                            <p:stCondLst>
                              <p:cond delay="0"/>
                            </p:stCondLst>
                            <p:childTnLst>
                              <p:par>
                                <p:cTn id="760" presetID="5" presetClass="exit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checkerboard(across)" transition="out">
                                      <p:cBhvr additive="repl">
                                        <p:cTn id="761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3" presetID="5" presetClass="exit" fill="hold" nodeType="withEffect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checkerboard(across)" transition="out">
                                      <p:cBhvr additive="repl">
                                        <p:cTn id="764"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6" fill="hold">
                      <p:stCondLst>
                        <p:cond delay="indefinite"/>
                      </p:stCondLst>
                      <p:childTnLst>
                        <p:par>
                          <p:cTn id="767" fill="hold">
                            <p:stCondLst>
                              <p:cond delay="0"/>
                            </p:stCondLst>
                            <p:childTnLst>
                              <p:par>
                                <p:cTn id="768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70"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1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73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4" fill="hold">
                      <p:stCondLst>
                        <p:cond delay="indefinite"/>
                      </p:stCondLst>
                      <p:childTnLst>
                        <p:par>
                          <p:cTn id="775" fill="hold">
                            <p:stCondLst>
                              <p:cond delay="0"/>
                            </p:stCondLst>
                            <p:childTnLst>
                              <p:par>
                                <p:cTn id="776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78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9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81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2" fill="hold">
                      <p:stCondLst>
                        <p:cond delay="indefinite"/>
                      </p:stCondLst>
                      <p:childTnLst>
                        <p:par>
                          <p:cTn id="783" fill="hold">
                            <p:stCondLst>
                              <p:cond delay="0"/>
                            </p:stCondLst>
                            <p:childTnLst>
                              <p:par>
                                <p:cTn id="784" presetID="2" presetClass="entr" fill="hold" nodeType="click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86" dur="500" fill="hold"/>
                                        <p:tgtEl>
                                          <p:spTgt spid="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87" dur="500" fill="hold"/>
                                        <p:tgtEl>
                                          <p:spTgt spid="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8" fill="hold">
                      <p:stCondLst>
                        <p:cond delay="indefinite"/>
                      </p:stCondLst>
                      <p:childTnLst>
                        <p:par>
                          <p:cTn id="789" fill="hold">
                            <p:stCondLst>
                              <p:cond delay="0"/>
                            </p:stCondLst>
                            <p:childTnLst>
                              <p:par>
                                <p:cTn id="790" presetID="5" presetClass="exit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checkerboard(across)" transition="out">
                                      <p:cBhvr additive="repl">
                                        <p:cTn id="791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3" fill="hold">
                      <p:stCondLst>
                        <p:cond delay="indefinite"/>
                      </p:stCondLst>
                      <p:childTnLst>
                        <p:par>
                          <p:cTn id="794" fill="hold">
                            <p:stCondLst>
                              <p:cond delay="0"/>
                            </p:stCondLst>
                            <p:childTnLst>
                              <p:par>
                                <p:cTn id="795" presetID="6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797" dur="20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8" fill="hold">
                      <p:stCondLst>
                        <p:cond delay="indefinite"/>
                      </p:stCondLst>
                      <p:childTnLst>
                        <p:par>
                          <p:cTn id="799" fill="hold">
                            <p:stCondLst>
                              <p:cond delay="0"/>
                            </p:stCondLst>
                            <p:childTnLst>
                              <p:par>
                                <p:cTn id="800" presetID="5" presetClass="exit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checkerboard(across)" transition="out">
                                      <p:cBhvr additive="repl">
                                        <p:cTn id="801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3" fill="hold">
                      <p:stCondLst>
                        <p:cond delay="indefinite"/>
                      </p:stCondLst>
                      <p:childTnLst>
                        <p:par>
                          <p:cTn id="804" fill="hold">
                            <p:stCondLst>
                              <p:cond delay="0"/>
                            </p:stCondLst>
                            <p:childTnLst>
                              <p:par>
                                <p:cTn id="805" presetID="6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807" dur="20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8" fill="hold">
                      <p:stCondLst>
                        <p:cond delay="indefinite"/>
                      </p:stCondLst>
                      <p:childTnLst>
                        <p:par>
                          <p:cTn id="809" fill="hold">
                            <p:stCondLst>
                              <p:cond delay="0"/>
                            </p:stCondLst>
                            <p:childTnLst>
                              <p:par>
                                <p:cTn id="810" presetID="2" presetClass="entr" fill="hold" nodeType="click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12" dur="500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13" dur="500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4" fill="hold">
                      <p:stCondLst>
                        <p:cond delay="indefinite"/>
                      </p:stCondLst>
                      <p:childTnLst>
                        <p:par>
                          <p:cTn id="815" fill="hold">
                            <p:stCondLst>
                              <p:cond delay="0"/>
                            </p:stCondLst>
                            <p:childTnLst>
                              <p:par>
                                <p:cTn id="816" presetID="5" presetClass="exit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checkerboard(across)" transition="out">
                                      <p:cBhvr additive="repl">
                                        <p:cTn id="817"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9" presetID="5" presetClass="exit" fill="hold" nodeType="withEffect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checkerboard(across)" transition="out">
                                      <p:cBhvr additive="repl">
                                        <p:cTn id="820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2" fill="hold">
                      <p:stCondLst>
                        <p:cond delay="indefinite"/>
                      </p:stCondLst>
                      <p:childTnLst>
                        <p:par>
                          <p:cTn id="823" fill="hold">
                            <p:stCondLst>
                              <p:cond delay="0"/>
                            </p:stCondLst>
                            <p:childTnLst>
                              <p:par>
                                <p:cTn id="824" presetID="6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826" dur="20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7" fill="hold">
                      <p:stCondLst>
                        <p:cond delay="indefinite"/>
                      </p:stCondLst>
                      <p:childTnLst>
                        <p:par>
                          <p:cTn id="828" fill="hold">
                            <p:stCondLst>
                              <p:cond delay="0"/>
                            </p:stCondLst>
                            <p:childTnLst>
                              <p:par>
                                <p:cTn id="829" presetID="6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831" dur="20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341</TotalTime>
  <Application>LibreOffice/25.8.5.2$Linux_X86_64 LibreOffice_project/580$Build-2</Application>
  <AppVersion>15.0000</AppVersion>
  <Words>685</Words>
  <Paragraphs>136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2015-07-15T20:12:14Z</dcterms:created>
  <dc:creator>Haonan Lu</dc:creator>
  <dc:description/>
  <dc:language>en-US</dc:language>
  <cp:lastModifiedBy>Haonan Lu</cp:lastModifiedBy>
  <dcterms:modified xsi:type="dcterms:W3CDTF">2015-09-20T23:22:57Z</dcterms:modified>
  <cp:revision>44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i4>11</vt:i4>
  </property>
</Properties>
</file>